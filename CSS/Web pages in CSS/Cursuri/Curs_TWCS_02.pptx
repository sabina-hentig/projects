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1"/>
  </p:notesMasterIdLst>
  <p:sldIdLst>
    <p:sldId id="256" r:id="rId2"/>
    <p:sldId id="257" r:id="rId3"/>
    <p:sldId id="344" r:id="rId4"/>
    <p:sldId id="345" r:id="rId5"/>
    <p:sldId id="346" r:id="rId6"/>
    <p:sldId id="347" r:id="rId7"/>
    <p:sldId id="348" r:id="rId8"/>
    <p:sldId id="349" r:id="rId9"/>
    <p:sldId id="350" r:id="rId10"/>
    <p:sldId id="351" r:id="rId11"/>
    <p:sldId id="352" r:id="rId12"/>
    <p:sldId id="353" r:id="rId13"/>
    <p:sldId id="354" r:id="rId14"/>
    <p:sldId id="355" r:id="rId15"/>
    <p:sldId id="356" r:id="rId16"/>
    <p:sldId id="357" r:id="rId17"/>
    <p:sldId id="358" r:id="rId18"/>
    <p:sldId id="359" r:id="rId19"/>
    <p:sldId id="360" r:id="rId20"/>
    <p:sldId id="361" r:id="rId21"/>
    <p:sldId id="362" r:id="rId22"/>
    <p:sldId id="363" r:id="rId23"/>
    <p:sldId id="364" r:id="rId24"/>
    <p:sldId id="365" r:id="rId25"/>
    <p:sldId id="366" r:id="rId26"/>
    <p:sldId id="367" r:id="rId27"/>
    <p:sldId id="368" r:id="rId28"/>
    <p:sldId id="397" r:id="rId29"/>
    <p:sldId id="369" r:id="rId30"/>
    <p:sldId id="370" r:id="rId31"/>
    <p:sldId id="343" r:id="rId32"/>
    <p:sldId id="375" r:id="rId33"/>
    <p:sldId id="376" r:id="rId34"/>
    <p:sldId id="377" r:id="rId35"/>
    <p:sldId id="378" r:id="rId36"/>
    <p:sldId id="379" r:id="rId37"/>
    <p:sldId id="380" r:id="rId38"/>
    <p:sldId id="381" r:id="rId39"/>
    <p:sldId id="382" r:id="rId40"/>
    <p:sldId id="383" r:id="rId41"/>
    <p:sldId id="384" r:id="rId42"/>
    <p:sldId id="385" r:id="rId43"/>
    <p:sldId id="386" r:id="rId44"/>
    <p:sldId id="387" r:id="rId45"/>
    <p:sldId id="388" r:id="rId46"/>
    <p:sldId id="389" r:id="rId47"/>
    <p:sldId id="390" r:id="rId48"/>
    <p:sldId id="391" r:id="rId49"/>
    <p:sldId id="392" r:id="rId50"/>
    <p:sldId id="393" r:id="rId51"/>
    <p:sldId id="394" r:id="rId52"/>
    <p:sldId id="395" r:id="rId53"/>
    <p:sldId id="396" r:id="rId54"/>
    <p:sldId id="398" r:id="rId55"/>
    <p:sldId id="400" r:id="rId56"/>
    <p:sldId id="401" r:id="rId57"/>
    <p:sldId id="402" r:id="rId58"/>
    <p:sldId id="403" r:id="rId59"/>
    <p:sldId id="404" r:id="rId60"/>
    <p:sldId id="405" r:id="rId61"/>
    <p:sldId id="406" r:id="rId62"/>
    <p:sldId id="408" r:id="rId63"/>
    <p:sldId id="409" r:id="rId64"/>
    <p:sldId id="410" r:id="rId65"/>
    <p:sldId id="411" r:id="rId66"/>
    <p:sldId id="412" r:id="rId67"/>
    <p:sldId id="413" r:id="rId68"/>
    <p:sldId id="414" r:id="rId69"/>
    <p:sldId id="415" r:id="rId70"/>
    <p:sldId id="416" r:id="rId71"/>
    <p:sldId id="417" r:id="rId72"/>
    <p:sldId id="418" r:id="rId73"/>
    <p:sldId id="419" r:id="rId74"/>
    <p:sldId id="420" r:id="rId75"/>
    <p:sldId id="421" r:id="rId76"/>
    <p:sldId id="422" r:id="rId77"/>
    <p:sldId id="423" r:id="rId78"/>
    <p:sldId id="424" r:id="rId79"/>
    <p:sldId id="425" r:id="rId80"/>
    <p:sldId id="426" r:id="rId81"/>
    <p:sldId id="427" r:id="rId82"/>
    <p:sldId id="428" r:id="rId83"/>
    <p:sldId id="429" r:id="rId84"/>
    <p:sldId id="430" r:id="rId85"/>
    <p:sldId id="431" r:id="rId86"/>
    <p:sldId id="432" r:id="rId87"/>
    <p:sldId id="433" r:id="rId88"/>
    <p:sldId id="434" r:id="rId89"/>
    <p:sldId id="374" r:id="rId9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4699"/>
    <a:srgbClr val="18690B"/>
    <a:srgbClr val="B6FF73"/>
    <a:srgbClr val="FF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875" autoAdjust="0"/>
  </p:normalViewPr>
  <p:slideViewPr>
    <p:cSldViewPr>
      <p:cViewPr>
        <p:scale>
          <a:sx n="100" d="100"/>
          <a:sy n="100" d="100"/>
        </p:scale>
        <p:origin x="-210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A931C-FC42-412F-A2DF-2726D7D06D49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724D72-B411-49CF-BD81-9E5A5510A04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F932-B1F8-48D2-BB04-8D3CFA3C6B75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B0167-77B1-4ECB-8B42-161F2FE397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F932-B1F8-48D2-BB04-8D3CFA3C6B75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B0167-77B1-4ECB-8B42-161F2FE397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F932-B1F8-48D2-BB04-8D3CFA3C6B75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B0167-77B1-4ECB-8B42-161F2FE397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F932-B1F8-48D2-BB04-8D3CFA3C6B75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B0167-77B1-4ECB-8B42-161F2FE397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F932-B1F8-48D2-BB04-8D3CFA3C6B75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B0167-77B1-4ECB-8B42-161F2FE397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F932-B1F8-48D2-BB04-8D3CFA3C6B75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B0167-77B1-4ECB-8B42-161F2FE397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F932-B1F8-48D2-BB04-8D3CFA3C6B75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B0167-77B1-4ECB-8B42-161F2FE397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F932-B1F8-48D2-BB04-8D3CFA3C6B75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B0167-77B1-4ECB-8B42-161F2FE397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F932-B1F8-48D2-BB04-8D3CFA3C6B75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B0167-77B1-4ECB-8B42-161F2FE397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F932-B1F8-48D2-BB04-8D3CFA3C6B75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B0167-77B1-4ECB-8B42-161F2FE397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8F932-B1F8-48D2-BB04-8D3CFA3C6B75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B0167-77B1-4ECB-8B42-161F2FE397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8F932-B1F8-48D2-BB04-8D3CFA3C6B75}" type="datetimeFigureOut">
              <a:rPr lang="en-US" smtClean="0"/>
              <a:pPr/>
              <a:t>5/20/2023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B0167-77B1-4ECB-8B42-161F2FE397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en.wikipedia.org/wiki/Tag_soup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abrieleromanato.wordpress.com/2012/02/04/css-a-web-standard-in-context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taligarsiel.com/Projects/howbrowserswork1.htm#The_browser_high_level_structur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friendlybit.com/css/rendering-a-web-page-step-by-step/" TargetMode="External"/><Relationship Id="rId2" Type="http://schemas.openxmlformats.org/officeDocument/2006/relationships/hyperlink" Target="http://taligarsiel.com/Projects/howbrowserswork1.htm#The_rendering_engin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://css-tricks.com/efficiently-rendering-css/" TargetMode="External"/><Relationship Id="rId4" Type="http://schemas.openxmlformats.org/officeDocument/2006/relationships/hyperlink" Target="https://developers.google.com/speed/docs/best-practices/renderin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taligarsiel.com/Projects/howbrowserswork1.htm#Parsing_genera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ebstyleguide.com/wsg3/5-site-structure/3-site-file-structure.html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taligarsiel.com/Projects/howbrowserswork1.htm#CSS_Box_model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www.w3.org/TR/CSS2/box.html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://taligarsiel.com/Projects/howbrowserswork1.htm#Box_types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schools.com/css/css_positioning.asp" TargetMode="External"/><Relationship Id="rId2" Type="http://schemas.openxmlformats.org/officeDocument/2006/relationships/hyperlink" Target="http://kilianvalkhof.com/2008/css-xhtml/understanding-css-positioning-part-1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hare.net/adechriz" TargetMode="External"/><Relationship Id="rId2" Type="http://schemas.openxmlformats.org/officeDocument/2006/relationships/hyperlink" Target="http://www.slideshare.net/adechriz/color-for-dummies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hare.net/egiaccardi" TargetMode="External"/><Relationship Id="rId2" Type="http://schemas.openxmlformats.org/officeDocument/2006/relationships/hyperlink" Target="http://www.slideshare.net/egiaccardi/the-art-of-color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hyperlink" Target="http://eu.wiley.com/WileyCDA/WileyTitle/productCd-1118008189.html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://eu.wiley.com/WileyCDA/WileyTitle/productCd-1118008189.html" TargetMode="External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hare.net/egiaccardi" TargetMode="External"/><Relationship Id="rId2" Type="http://schemas.openxmlformats.org/officeDocument/2006/relationships/hyperlink" Target="http://www.slideshare.net/egiaccardi/the-art-of-color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://sixrevisions.com/web_design/a-look-into-color-theory-in-web-design/" TargetMode="External"/><Relationship Id="rId2" Type="http://schemas.openxmlformats.org/officeDocument/2006/relationships/hyperlink" Target="http://webdesign.tutsplus.com/articles/an-introduction-to-color-theory-for-web-designers--webdesign-143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presentationzen.com/chapter6_spread.pdf" TargetMode="External"/><Relationship Id="rId5" Type="http://schemas.openxmlformats.org/officeDocument/2006/relationships/hyperlink" Target="http://www.berkeleycitycollege.us/Non-DesignerDesign.pdf" TargetMode="External"/><Relationship Id="rId4" Type="http://schemas.openxmlformats.org/officeDocument/2006/relationships/hyperlink" Target="http://webdesignfromscratch.com/web-design/colour/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xmatters.com/mt/archives/2006/01/color-theory-for-digital-displays-a-quick-reference-part-ii.php" TargetMode="External"/><Relationship Id="rId2" Type="http://schemas.openxmlformats.org/officeDocument/2006/relationships/hyperlink" Target="https://www.uxmatters.com/mt/archives/2006/01/color-theory-for-digital-displays-a-quick-reference-part-i.ph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s.ubbcluj.ro/~sanda/teaching/subject/TWCS/2/colors.html?full" TargetMode="Externa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hyperlink" Target="http://www.slideshare.net/stoyan/css-and-image-optimization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lideshare.net/stoyan/css-and-image-optimization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lideshare.net/stoyan/css-and-image-optimization" TargetMode="Externa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erkeleycitycollege.us/Non-DesignerDesign.pdf" TargetMode="External"/><Relationship Id="rId2" Type="http://schemas.openxmlformats.org/officeDocument/2006/relationships/hyperlink" Target="http://www.bookofspeed.com/chapter5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presentationzen.com/chapter6_spread.pdf" TargetMode="Externa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hyperlink" Target="http://webdesign.tutsplus.com/articles/typography-articles/the-anatomy-of-web-typography/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hare.net/maxdesign" TargetMode="External"/><Relationship Id="rId2" Type="http://schemas.openxmlformats.org/officeDocument/2006/relationships/hyperlink" Target="http://www.slideshare.net/maxdesign/css-fontstacks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hare.net/maxdesign" TargetMode="External"/><Relationship Id="rId2" Type="http://schemas.openxmlformats.org/officeDocument/2006/relationships/hyperlink" Target="http://www.slideshare.net/maxdesign/css-fontstack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hare.net/maxdesign" TargetMode="External"/><Relationship Id="rId2" Type="http://schemas.openxmlformats.org/officeDocument/2006/relationships/hyperlink" Target="http://www.slideshare.net/maxdesign/css-fontstacks" TargetMode="Externa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hare.net/maxdesign" TargetMode="External"/><Relationship Id="rId2" Type="http://schemas.openxmlformats.org/officeDocument/2006/relationships/hyperlink" Target="http://www.slideshare.net/maxdesign/css-fontstacks" TargetMode="Externa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hare.net/maxdesign" TargetMode="External"/><Relationship Id="rId2" Type="http://schemas.openxmlformats.org/officeDocument/2006/relationships/hyperlink" Target="http://www.slideshare.net/maxdesign/css-fontstacks" TargetMode="Externa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hyperlink" Target="http://www.slideshare.net/jasonspeaking/the-new-web-typography" TargetMode="Externa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hare.net/jasonspeaking/the-new-web-typography" TargetMode="External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hyperlink" Target="http://www.slideshare.net/jasonspeaking/the-new-web-typography" TargetMode="Externa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hyperlink" Target="http://www.slideshare.net/jasonspeaking/the-new-web-typography" TargetMode="Externa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://www.slideshare.net/jasonspeaking/the-new-web-typography" TargetMode="Externa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lideshare.net/jasonspeaking/the-new-web-typography" TargetMode="Externa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hyperlink" Target="http://net.tutsplus.com/tutorials/html-css-techniques/six-ways-to-improve-your-web-typography/" TargetMode="External"/><Relationship Id="rId3" Type="http://schemas.openxmlformats.org/officeDocument/2006/relationships/hyperlink" Target="http://webtypography.net/toc/" TargetMode="External"/><Relationship Id="rId7" Type="http://schemas.openxmlformats.org/officeDocument/2006/relationships/hyperlink" Target="http://www.smashingmagazine.com/typography-guidelines-and-references/" TargetMode="External"/><Relationship Id="rId2" Type="http://schemas.openxmlformats.org/officeDocument/2006/relationships/hyperlink" Target="https://www.w3.org/Style/Examples/007/units.en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smyck.net/2013/01/26/web-typography/" TargetMode="External"/><Relationship Id="rId5" Type="http://schemas.openxmlformats.org/officeDocument/2006/relationships/hyperlink" Target="http://alistapart.com/article/the-era-of-symbol-fonts" TargetMode="External"/><Relationship Id="rId4" Type="http://schemas.openxmlformats.org/officeDocument/2006/relationships/hyperlink" Target="http://alistapart.com/column/responsive-typography-is-a-physical-discipline" TargetMode="Externa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://kaikkonendesign.fi/typography/section/1" TargetMode="External"/><Relationship Id="rId2" Type="http://schemas.openxmlformats.org/officeDocument/2006/relationships/hyperlink" Target="http://font-combinator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ave.webaim.org/" TargetMode="External"/><Relationship Id="rId4" Type="http://schemas.openxmlformats.org/officeDocument/2006/relationships/hyperlink" Target="http://leaverou.github.io/contrast-ratio/#%23777-on-white" TargetMode="Externa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://oc.course.com/webwarrior/sklar4/" TargetMode="Externa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://cssmediaqueries.com/overview.html" TargetMode="External"/><Relationship Id="rId2" Type="http://schemas.openxmlformats.org/officeDocument/2006/relationships/hyperlink" Target="http://www.w3.org/TR/css3-mediaqueries/" TargetMode="Externa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hyperlink" Target="https://google.github.io/styleguide/htmlcssguide.html#Leading_0s" TargetMode="External"/><Relationship Id="rId13" Type="http://schemas.openxmlformats.org/officeDocument/2006/relationships/hyperlink" Target="https://google.github.io/styleguide/htmlcssguide.html" TargetMode="External"/><Relationship Id="rId3" Type="http://schemas.openxmlformats.org/officeDocument/2006/relationships/hyperlink" Target="https://jigsaw.w3.org/css-validator/" TargetMode="External"/><Relationship Id="rId7" Type="http://schemas.openxmlformats.org/officeDocument/2006/relationships/hyperlink" Target="https://google.github.io/styleguide/htmlcssguide.html#0_and_Units" TargetMode="External"/><Relationship Id="rId12" Type="http://schemas.openxmlformats.org/officeDocument/2006/relationships/hyperlink" Target="https://google.github.io/styleguide/htmlcssguide.html#Hacks" TargetMode="External"/><Relationship Id="rId2" Type="http://schemas.openxmlformats.org/officeDocument/2006/relationships/hyperlink" Target="https://google.github.io/styleguide/htmlcssguide.html#CSS_Validity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oogle.github.io/styleguide/htmlcssguide.html#Shorthand_Properties" TargetMode="External"/><Relationship Id="rId11" Type="http://schemas.openxmlformats.org/officeDocument/2006/relationships/hyperlink" Target="https://google.github.io/styleguide/htmlcssguide.html#ID_and_Class_Name_Delimiters" TargetMode="External"/><Relationship Id="rId5" Type="http://schemas.openxmlformats.org/officeDocument/2006/relationships/hyperlink" Target="https://google.github.io/styleguide/htmlcssguide.html#Type_Selectors" TargetMode="External"/><Relationship Id="rId10" Type="http://schemas.openxmlformats.org/officeDocument/2006/relationships/hyperlink" Target="https://google.github.io/styleguide/htmlcssguide.html#Prefixes" TargetMode="External"/><Relationship Id="rId4" Type="http://schemas.openxmlformats.org/officeDocument/2006/relationships/hyperlink" Target="https://google.github.io/styleguide/htmlcssguide.html#ID_and_Class_Name_Style" TargetMode="External"/><Relationship Id="rId9" Type="http://schemas.openxmlformats.org/officeDocument/2006/relationships/hyperlink" Target="https://google.github.io/styleguide/htmlcssguide.html#Hexadecimal_Notation" TargetMode="Externa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hyperlink" Target="https://google.github.io/styleguide/htmlcssguide.html#Rule_Separation" TargetMode="External"/><Relationship Id="rId3" Type="http://schemas.openxmlformats.org/officeDocument/2006/relationships/hyperlink" Target="https://google.github.io/styleguide/htmlcssguide.html#Block_Content_Indentation" TargetMode="External"/><Relationship Id="rId7" Type="http://schemas.openxmlformats.org/officeDocument/2006/relationships/hyperlink" Target="https://google.github.io/styleguide/htmlcssguide.html#Selector_and_Declaration_Separation" TargetMode="External"/><Relationship Id="rId2" Type="http://schemas.openxmlformats.org/officeDocument/2006/relationships/hyperlink" Target="https://google.github.io/styleguide/htmlcssguide.html#Declaration_Orde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oogle.github.io/styleguide/htmlcssguide.html#Declaration_Block_Separation" TargetMode="External"/><Relationship Id="rId11" Type="http://schemas.openxmlformats.org/officeDocument/2006/relationships/hyperlink" Target="https://google.github.io/styleguide/htmlcssguide.html" TargetMode="External"/><Relationship Id="rId5" Type="http://schemas.openxmlformats.org/officeDocument/2006/relationships/hyperlink" Target="https://google.github.io/styleguide/htmlcssguide.html#Property_Name_Stops" TargetMode="External"/><Relationship Id="rId10" Type="http://schemas.openxmlformats.org/officeDocument/2006/relationships/hyperlink" Target="https://google.github.io/styleguide/htmlcssguide.html#Section_Comments" TargetMode="External"/><Relationship Id="rId4" Type="http://schemas.openxmlformats.org/officeDocument/2006/relationships/hyperlink" Target="https://google.github.io/styleguide/htmlcssguide.html#Declaration_Stops" TargetMode="External"/><Relationship Id="rId9" Type="http://schemas.openxmlformats.org/officeDocument/2006/relationships/hyperlink" Target="https://google.github.io/styleguide/htmlcssguide.html#CSS_Quotation_Marks" TargetMode="Externa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tx2">
                    <a:lumMod val="75000"/>
                  </a:schemeClr>
                </a:solidFill>
              </a:rPr>
              <a:t>Tehnologii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 Web Client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Side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o-RO" dirty="0" smtClean="0">
                <a:solidFill>
                  <a:schemeClr val="bg2">
                    <a:lumMod val="10000"/>
                  </a:schemeClr>
                </a:solidFill>
              </a:rPr>
              <a:t>Curs 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2</a:t>
            </a:r>
            <a:endParaRPr lang="ro-RO" dirty="0" smtClean="0">
              <a:solidFill>
                <a:schemeClr val="bg2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Conținut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endParaRPr lang="en-US" dirty="0" smtClean="0"/>
          </a:p>
          <a:p>
            <a:pPr lvl="0"/>
            <a:r>
              <a:rPr lang="vi-VN" dirty="0" smtClean="0"/>
              <a:t>Avantajele standardelor</a:t>
            </a:r>
            <a:endParaRPr lang="en-US" dirty="0" smtClean="0"/>
          </a:p>
          <a:p>
            <a:pPr lvl="0"/>
            <a:r>
              <a:rPr lang="en-US" dirty="0" smtClean="0"/>
              <a:t>M</a:t>
            </a:r>
            <a:r>
              <a:rPr lang="vi-VN" dirty="0" smtClean="0"/>
              <a:t>odul de funcționare a browserul: redare și parsare;</a:t>
            </a:r>
            <a:endParaRPr lang="en-US" dirty="0" smtClean="0"/>
          </a:p>
          <a:p>
            <a:pPr lvl="0"/>
            <a:r>
              <a:rPr lang="vi-VN" dirty="0" smtClean="0"/>
              <a:t>Reguli CSS: selectori, cascadă, moștenire</a:t>
            </a:r>
            <a:endParaRPr lang="en-US" dirty="0" smtClean="0"/>
          </a:p>
          <a:p>
            <a:pPr lvl="0"/>
            <a:r>
              <a:rPr lang="vi-VN" dirty="0" smtClean="0"/>
              <a:t>Culori. Imagini. Fonturi</a:t>
            </a:r>
            <a:endParaRPr lang="en-US" dirty="0" smtClean="0"/>
          </a:p>
          <a:p>
            <a:pPr lvl="0"/>
            <a:r>
              <a:rPr lang="vi-VN" dirty="0" smtClean="0"/>
              <a:t>CSS: </a:t>
            </a:r>
            <a:r>
              <a:rPr lang="vi-VN" i="1" dirty="0" smtClean="0"/>
              <a:t>box model, display, positioning</a:t>
            </a:r>
            <a:r>
              <a:rPr lang="vi-VN" dirty="0" smtClean="0"/>
              <a:t>- </a:t>
            </a:r>
            <a:r>
              <a:rPr lang="vi-VN" i="1" dirty="0" smtClean="0"/>
              <a:t>Media queries</a:t>
            </a:r>
            <a:r>
              <a:rPr lang="vi-VN" dirty="0" smtClean="0"/>
              <a:t> &amp; elemente avansate de CSS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eb-standards-timelin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26607" y="0"/>
            <a:ext cx="46907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Tagsoup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vi-VN" dirty="0" smtClean="0">
                <a:latin typeface="Calibri" pitchFamily="34" charset="0"/>
                <a:cs typeface="Calibri" pitchFamily="34" charset="0"/>
              </a:rPr>
              <a:t>[înainte de CSS] nici o modalitate de a 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poziționa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 elementele, cu excepția atributului </a:t>
            </a:r>
            <a:r>
              <a:rPr lang="vi-VN" b="1" i="1" dirty="0" smtClean="0">
                <a:latin typeface="Calibri" pitchFamily="34" charset="0"/>
                <a:cs typeface="Calibri" pitchFamily="34" charset="0"/>
              </a:rPr>
              <a:t>align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 pentru imagini;</a:t>
            </a:r>
          </a:p>
          <a:p>
            <a:r>
              <a:rPr lang="vi-VN" dirty="0" smtClean="0">
                <a:latin typeface="Calibri" pitchFamily="34" charset="0"/>
                <a:cs typeface="Calibri" pitchFamily="34" charset="0"/>
              </a:rPr>
              <a:t>[înainte de CSS] pentru a crea 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layout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-uri complete, complexe și atrăgătoare, s-au folosit tabele;</a:t>
            </a:r>
          </a:p>
          <a:p>
            <a:r>
              <a:rPr lang="vi-VN" dirty="0" smtClean="0">
                <a:latin typeface="Calibri" pitchFamily="34" charset="0"/>
                <a:cs typeface="Calibri" pitchFamily="34" charset="0"/>
              </a:rPr>
              <a:t>[înainte de CSS] distribuția la nivel mondial a editoarelor WYSIWYG (What You See Is What You Get);</a:t>
            </a:r>
          </a:p>
          <a:p>
            <a:r>
              <a:rPr lang="vi-VN" b="1" dirty="0" smtClean="0">
                <a:latin typeface="Calibri" pitchFamily="34" charset="0"/>
                <a:cs typeface="Calibri" pitchFamily="34" charset="0"/>
              </a:rPr>
              <a:t>Browser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-ele au interpretat greșit specificațiile, ceea ce a cauzat mai multe probleme, chiar și cu layout-uri simple de pagini.</a:t>
            </a:r>
          </a:p>
          <a:p>
            <a:pPr>
              <a:buNone/>
            </a:pP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Tagsoup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15000"/>
            <a:ext cx="8229600" cy="4111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1200" u="sng" dirty="0" smtClean="0">
                <a:hlinkClick r:id="rId2"/>
              </a:rPr>
              <a:t>Tag soup</a:t>
            </a:r>
            <a:r>
              <a:rPr lang="en-US" sz="1200" u="sng" dirty="0" smtClean="0"/>
              <a:t> </a:t>
            </a:r>
            <a:r>
              <a:rPr lang="en-US" sz="1200" u="sng" dirty="0" err="1" smtClean="0"/>
              <a:t>pe</a:t>
            </a:r>
            <a:r>
              <a:rPr lang="en-US" sz="1200" u="sng" dirty="0" smtClean="0"/>
              <a:t> Wikipedia</a:t>
            </a:r>
            <a:endParaRPr lang="en-US" sz="1200" u="sng" dirty="0"/>
          </a:p>
        </p:txBody>
      </p:sp>
      <p:pic>
        <p:nvPicPr>
          <p:cNvPr id="5" name="Picture 4" descr="tag-soup-content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1937" y="2281237"/>
            <a:ext cx="8620125" cy="2295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Avantajele</a:t>
            </a:r>
            <a:r>
              <a:rPr lang="en-US" dirty="0" smtClean="0"/>
              <a:t> </a:t>
            </a:r>
            <a:r>
              <a:rPr lang="en-US" dirty="0" err="1" smtClean="0"/>
              <a:t>standardelor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vi-VN" b="1" dirty="0" smtClean="0">
                <a:latin typeface="Calibri" pitchFamily="34" charset="0"/>
                <a:cs typeface="Calibri" pitchFamily="34" charset="0"/>
              </a:rPr>
              <a:t>Compatibilitate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: cu browserele anterioare și viitoare și cu dispozitivele de internet;</a:t>
            </a:r>
          </a:p>
          <a:p>
            <a:r>
              <a:rPr lang="vi-VN" b="1" dirty="0" smtClean="0">
                <a:latin typeface="Calibri" pitchFamily="34" charset="0"/>
                <a:cs typeface="Calibri" pitchFamily="34" charset="0"/>
              </a:rPr>
              <a:t>Independența față de dispozitiv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: prezentări pentru dispozitive specifice;</a:t>
            </a:r>
          </a:p>
          <a:p>
            <a:r>
              <a:rPr lang="vi-VN" b="1" i="1" dirty="0" smtClean="0">
                <a:latin typeface="Calibri" pitchFamily="34" charset="0"/>
                <a:cs typeface="Calibri" pitchFamily="34" charset="0"/>
              </a:rPr>
              <a:t>Accesibilitate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: + permite utilizatorilor accesul deplin la un document, chiar dacă CSS este dezactivat sau nu este acceptat;</a:t>
            </a:r>
          </a:p>
          <a:p>
            <a:r>
              <a:rPr lang="vi-VN" b="1" dirty="0" smtClean="0">
                <a:latin typeface="Calibri" pitchFamily="34" charset="0"/>
                <a:cs typeface="Calibri" pitchFamily="34" charset="0"/>
              </a:rPr>
              <a:t>Întreținerea codului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 (</a:t>
            </a:r>
            <a:r>
              <a:rPr lang="vi-VN" i="1" dirty="0" smtClean="0">
                <a:latin typeface="Calibri" pitchFamily="34" charset="0"/>
                <a:cs typeface="Calibri" pitchFamily="34" charset="0"/>
              </a:rPr>
              <a:t>code maintenance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): Standard = mai ușor și mai curat decât Tagsoup;</a:t>
            </a:r>
          </a:p>
          <a:p>
            <a:r>
              <a:rPr lang="vi-VN" b="1" dirty="0" smtClean="0">
                <a:latin typeface="Calibri" pitchFamily="34" charset="0"/>
                <a:cs typeface="Calibri" pitchFamily="34" charset="0"/>
              </a:rPr>
              <a:t>Indexarea motoarelor de căutare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: Dacă există mai mult text decât marcaje/tag-uri, pagina va fi mai bine indexată. CSS vă permite să reduceți marcajul redundant.</a:t>
            </a:r>
          </a:p>
          <a:p>
            <a:pPr>
              <a:buNone/>
            </a:pP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 algn="ctr">
              <a:buNone/>
            </a:pPr>
            <a:r>
              <a:rPr lang="en-US" dirty="0" smtClean="0">
                <a:latin typeface="Calibri" pitchFamily="34" charset="0"/>
                <a:cs typeface="Calibri" pitchFamily="34" charset="0"/>
                <a:hlinkClick r:id="rId2"/>
              </a:rPr>
              <a:t/>
            </a:r>
            <a:br>
              <a:rPr lang="en-US" dirty="0" smtClean="0">
                <a:latin typeface="Calibri" pitchFamily="34" charset="0"/>
                <a:cs typeface="Calibri" pitchFamily="34" charset="0"/>
                <a:hlinkClick r:id="rId2"/>
              </a:rPr>
            </a:br>
            <a:r>
              <a:rPr lang="en-US" sz="1700" u="sng" dirty="0" smtClean="0">
                <a:latin typeface="Calibri" pitchFamily="34" charset="0"/>
                <a:cs typeface="Calibri" pitchFamily="34" charset="0"/>
                <a:hlinkClick r:id="rId2"/>
              </a:rPr>
              <a:t>Web standards and </a:t>
            </a:r>
            <a:r>
              <a:rPr lang="en-US" sz="1700" u="sng" dirty="0" err="1" smtClean="0">
                <a:latin typeface="Calibri" pitchFamily="34" charset="0"/>
                <a:cs typeface="Calibri" pitchFamily="34" charset="0"/>
                <a:hlinkClick r:id="rId2"/>
              </a:rPr>
              <a:t>CSS</a:t>
            </a:r>
            <a:r>
              <a:rPr lang="en-US" sz="1700" u="sng" dirty="0" smtClean="0">
                <a:latin typeface="Calibri" pitchFamily="34" charset="0"/>
                <a:cs typeface="Calibri" pitchFamily="34" charset="0"/>
              </a:rPr>
              <a:t> by Gabriele </a:t>
            </a:r>
            <a:r>
              <a:rPr lang="en-US" sz="1700" u="sng" dirty="0" err="1" smtClean="0">
                <a:latin typeface="Calibri" pitchFamily="34" charset="0"/>
                <a:cs typeface="Calibri" pitchFamily="34" charset="0"/>
              </a:rPr>
              <a:t>Romanato</a:t>
            </a:r>
            <a:r>
              <a:rPr lang="en-US" sz="1700" u="sng" dirty="0" smtClean="0">
                <a:latin typeface="Calibri" pitchFamily="34" charset="0"/>
                <a:cs typeface="Calibri" pitchFamily="34" charset="0"/>
              </a:rPr>
              <a:t>, February 4, 2012</a:t>
            </a:r>
            <a:endParaRPr lang="en-US" sz="1700" u="sng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cs typeface="Calibri" pitchFamily="34" charset="0"/>
              </a:rPr>
              <a:t>Cum funcționează browserele?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867400"/>
            <a:ext cx="8229600" cy="258763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US" sz="1200" u="sng" dirty="0" smtClean="0">
                <a:hlinkClick r:id="rId2"/>
              </a:rPr>
              <a:t>How browsers work</a:t>
            </a:r>
            <a:r>
              <a:rPr lang="en-US" sz="1200" u="sng" dirty="0" smtClean="0"/>
              <a:t> by </a:t>
            </a:r>
            <a:r>
              <a:rPr lang="en-US" sz="1200" u="sng" dirty="0" err="1" smtClean="0"/>
              <a:t>Tali</a:t>
            </a:r>
            <a:r>
              <a:rPr lang="en-US" sz="1200" u="sng" dirty="0" smtClean="0"/>
              <a:t> </a:t>
            </a:r>
            <a:r>
              <a:rPr lang="en-US" sz="1200" u="sng" dirty="0" err="1" smtClean="0"/>
              <a:t>Garsiel</a:t>
            </a:r>
            <a:endParaRPr lang="en-US" sz="1200" u="sng" dirty="0"/>
          </a:p>
        </p:txBody>
      </p:sp>
      <p:pic>
        <p:nvPicPr>
          <p:cNvPr id="4" name="Picture 3" descr="layers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90750" y="1814512"/>
            <a:ext cx="4762500" cy="3228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cs typeface="Calibri" pitchFamily="34" charset="0"/>
              </a:rPr>
              <a:t>Cum funcționează browserele? Rendering.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400"/>
            <a:ext cx="8229600" cy="6397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200" dirty="0" smtClean="0"/>
              <a:t>→ </a:t>
            </a:r>
            <a:r>
              <a:rPr lang="en-US" sz="1200" dirty="0" smtClean="0">
                <a:hlinkClick r:id="rId2"/>
              </a:rPr>
              <a:t>How browsers work. The rendering engine</a:t>
            </a:r>
            <a:r>
              <a:rPr lang="en-US" sz="1200" dirty="0" smtClean="0"/>
              <a:t>, 2009;      → </a:t>
            </a:r>
            <a:r>
              <a:rPr lang="en-US" sz="1200" dirty="0" smtClean="0">
                <a:hlinkClick r:id="rId3"/>
              </a:rPr>
              <a:t>Rendering a web page – step by step</a:t>
            </a:r>
            <a:r>
              <a:rPr lang="en-US" sz="1200" dirty="0" smtClean="0"/>
              <a:t>, 2010 by Emil </a:t>
            </a:r>
            <a:r>
              <a:rPr lang="en-US" sz="1200" dirty="0" err="1" smtClean="0"/>
              <a:t>Stenström</a:t>
            </a:r>
            <a:r>
              <a:rPr lang="en-US" sz="1200" dirty="0" smtClean="0"/>
              <a:t>;     </a:t>
            </a:r>
            <a:br>
              <a:rPr lang="en-US" sz="1200" dirty="0" smtClean="0"/>
            </a:br>
            <a:r>
              <a:rPr lang="en-US" sz="1200" dirty="0" smtClean="0"/>
              <a:t>→ </a:t>
            </a:r>
            <a:r>
              <a:rPr lang="en-US" sz="1200" dirty="0" smtClean="0">
                <a:hlinkClick r:id="rId4"/>
              </a:rPr>
              <a:t>Optimize browser rendering</a:t>
            </a:r>
            <a:r>
              <a:rPr lang="en-US" sz="1200" dirty="0" smtClean="0"/>
              <a:t>, 2015;      → </a:t>
            </a:r>
            <a:r>
              <a:rPr lang="en-US" sz="1200" dirty="0" smtClean="0">
                <a:hlinkClick r:id="rId5"/>
              </a:rPr>
              <a:t>Efficiently Rendering </a:t>
            </a:r>
            <a:r>
              <a:rPr lang="en-US" sz="1200" dirty="0" err="1" smtClean="0">
                <a:hlinkClick r:id="rId5"/>
              </a:rPr>
              <a:t>CSS</a:t>
            </a:r>
            <a:r>
              <a:rPr lang="en-US" sz="1200" dirty="0" smtClean="0"/>
              <a:t>, 2010 by Chris </a:t>
            </a:r>
            <a:r>
              <a:rPr lang="en-US" sz="1200" dirty="0" err="1" smtClean="0"/>
              <a:t>Coyier</a:t>
            </a:r>
            <a:endParaRPr lang="en-US" sz="1200" dirty="0"/>
          </a:p>
        </p:txBody>
      </p:sp>
      <p:pic>
        <p:nvPicPr>
          <p:cNvPr id="4" name="Picture 3" descr="webkitflow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600200" y="2052637"/>
            <a:ext cx="5943600" cy="27527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cs typeface="Calibri" pitchFamily="34" charset="0"/>
              </a:rPr>
              <a:t>Cum funcționează browserele? Parsing.</a:t>
            </a:r>
            <a:endParaRPr lang="vi-VN" dirty="0">
              <a:solidFill>
                <a:schemeClr val="tx2">
                  <a:lumMod val="60000"/>
                  <a:lumOff val="4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867400"/>
            <a:ext cx="8229600" cy="258763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en-US" sz="1200" dirty="0" smtClean="0">
                <a:hlinkClick r:id="rId2"/>
              </a:rPr>
              <a:t>How browsers work. Parsing</a:t>
            </a:r>
            <a:r>
              <a:rPr lang="en-US" sz="1200" dirty="0" smtClean="0"/>
              <a:t>, 2009</a:t>
            </a:r>
            <a:endParaRPr lang="en-US" sz="1200" dirty="0"/>
          </a:p>
        </p:txBody>
      </p:sp>
      <p:pic>
        <p:nvPicPr>
          <p:cNvPr id="4" name="Picture 3" descr="parsingHTML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2400" y="1524000"/>
            <a:ext cx="3800475" cy="3952875"/>
          </a:xfrm>
          <a:prstGeom prst="rect">
            <a:avLst/>
          </a:prstGeom>
        </p:spPr>
      </p:pic>
      <p:pic>
        <p:nvPicPr>
          <p:cNvPr id="6" name="Picture 5" descr="parsingCSS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267200" y="1524000"/>
            <a:ext cx="4762500" cy="37433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Cascading Style Sheets (</a:t>
            </a:r>
            <a:r>
              <a:rPr lang="en-US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CSS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). 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Versiuni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vi-VN" dirty="0" smtClean="0">
                <a:latin typeface="Calibri" pitchFamily="34" charset="0"/>
                <a:cs typeface="Calibri" pitchFamily="34" charset="0"/>
              </a:rPr>
              <a:t>1996 - 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CSS1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 a devenit o recomandare W3Cfont, alignment, margin, border, background, float, etc.</a:t>
            </a: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dirty="0" smtClean="0">
                <a:latin typeface="Calibri" pitchFamily="34" charset="0"/>
                <a:cs typeface="Calibri" pitchFamily="34" charset="0"/>
              </a:rPr>
              <a:t>1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998 - 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CSS2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 cu caracteristici avansatetable cell display, CSS @import, diferite tipuri de ieșiri media, etc.</a:t>
            </a: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vi-VN" dirty="0" smtClean="0">
                <a:latin typeface="Calibri" pitchFamily="34" charset="0"/>
                <a:cs typeface="Calibri" pitchFamily="34" charset="0"/>
              </a:rPr>
              <a:t>2011- 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CSS3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 este împărțit în documente separate numite "module"Color, Selectors Level 3, Namespaces, Media Queries, etc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pPr>
              <a:buNone/>
            </a:pP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Anatomia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unei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reguli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CSS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 descr="css-rul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0" y="2209800"/>
            <a:ext cx="8498634" cy="24738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Utilizare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CSS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extern </a:t>
            </a:r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&lt;link&gt;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581400" cy="45259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 smtClean="0"/>
              <a:t>index.html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&lt;head&gt;</a:t>
            </a: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	&lt;link </a:t>
            </a:r>
            <a:r>
              <a:rPr lang="en-US" dirty="0" err="1" smtClean="0">
                <a:solidFill>
                  <a:srgbClr val="0070C0"/>
                </a:solidFill>
              </a:rPr>
              <a:t>rel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"</a:t>
            </a:r>
            <a:r>
              <a:rPr lang="en-US" dirty="0" err="1" smtClean="0">
                <a:solidFill>
                  <a:srgbClr val="C00000"/>
                </a:solidFill>
              </a:rPr>
              <a:t>stylesheet</a:t>
            </a:r>
            <a:r>
              <a:rPr lang="en-US" dirty="0" smtClean="0">
                <a:solidFill>
                  <a:srgbClr val="C00000"/>
                </a:solidFill>
              </a:rPr>
              <a:t>" </a:t>
            </a:r>
            <a:r>
              <a:rPr lang="en-US" dirty="0" err="1" smtClean="0">
                <a:solidFill>
                  <a:srgbClr val="0070C0"/>
                </a:solidFill>
              </a:rPr>
              <a:t>href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"style.css"</a:t>
            </a:r>
            <a:r>
              <a:rPr lang="en-US" dirty="0" smtClean="0">
                <a:solidFill>
                  <a:srgbClr val="00B050"/>
                </a:solidFill>
              </a:rPr>
              <a:t>&gt;</a:t>
            </a: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&lt;/head&gt;</a:t>
            </a:r>
          </a:p>
          <a:p>
            <a:pPr>
              <a:buNone/>
            </a:pPr>
            <a:endParaRPr lang="en-US" dirty="0" smtClean="0">
              <a:solidFill>
                <a:srgbClr val="00B05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&lt;body&gt;</a:t>
            </a: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&lt;</a:t>
            </a:r>
            <a:r>
              <a:rPr lang="en-US" dirty="0" smtClean="0"/>
              <a:t>h3&gt;</a:t>
            </a:r>
            <a:r>
              <a:rPr lang="en-US" dirty="0" err="1" smtClean="0"/>
              <a:t>Utilizare</a:t>
            </a:r>
            <a:r>
              <a:rPr lang="en-US" dirty="0" smtClean="0"/>
              <a:t> </a:t>
            </a:r>
            <a:r>
              <a:rPr lang="en-US" dirty="0" err="1" smtClean="0"/>
              <a:t>CSS</a:t>
            </a:r>
            <a:r>
              <a:rPr lang="en-US" dirty="0" smtClean="0"/>
              <a:t> extern</a:t>
            </a:r>
            <a:r>
              <a:rPr lang="en-US" dirty="0" smtClean="0">
                <a:solidFill>
                  <a:srgbClr val="00B050"/>
                </a:solidFill>
              </a:rPr>
              <a:t>&lt;/h3&gt;</a:t>
            </a: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			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029200" y="1600200"/>
            <a:ext cx="3581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style.css</a:t>
            </a:r>
          </a:p>
          <a:p>
            <a:pPr marL="342900" lvl="0" indent="-342900">
              <a:spcBef>
                <a:spcPct val="20000"/>
              </a:spcBef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>
                <a:solidFill>
                  <a:srgbClr val="00B050"/>
                </a:solidFill>
              </a:rPr>
              <a:t>body</a:t>
            </a:r>
            <a:r>
              <a:rPr lang="en-US" sz="3200" dirty="0" smtClean="0"/>
              <a:t>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     font-family: Arial;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	background-color: </a:t>
            </a:r>
            <a:r>
              <a:rPr lang="en-US" sz="3200" dirty="0" err="1" smtClean="0">
                <a:solidFill>
                  <a:srgbClr val="0070C0"/>
                </a:solidFill>
              </a:rPr>
              <a:t>rgb</a:t>
            </a:r>
            <a:r>
              <a:rPr lang="en-US" sz="3200" dirty="0" smtClean="0">
                <a:solidFill>
                  <a:srgbClr val="00B050"/>
                </a:solidFill>
              </a:rPr>
              <a:t>(185,179,175</a:t>
            </a:r>
            <a:r>
              <a:rPr lang="en-US" sz="3200" dirty="0" smtClean="0"/>
              <a:t>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}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>
                <a:solidFill>
                  <a:srgbClr val="00B050"/>
                </a:solidFill>
              </a:rPr>
              <a:t>h3</a:t>
            </a:r>
            <a:r>
              <a:rPr lang="en-US" sz="3200" dirty="0" smtClean="0"/>
              <a:t> {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	color: </a:t>
            </a:r>
            <a:r>
              <a:rPr lang="en-US" sz="3200" dirty="0" err="1" smtClean="0">
                <a:solidFill>
                  <a:srgbClr val="0070C0"/>
                </a:solidFill>
              </a:rPr>
              <a:t>rgb</a:t>
            </a:r>
            <a:r>
              <a:rPr lang="en-US" sz="3200" dirty="0" smtClean="0"/>
              <a:t>(</a:t>
            </a:r>
            <a:r>
              <a:rPr lang="en-US" sz="3200" dirty="0" smtClean="0">
                <a:solidFill>
                  <a:srgbClr val="00B050"/>
                </a:solidFill>
              </a:rPr>
              <a:t>255,255,255</a:t>
            </a:r>
            <a:r>
              <a:rPr lang="en-US" sz="3200" dirty="0" smtClean="0"/>
              <a:t>);</a:t>
            </a:r>
          </a:p>
          <a:p>
            <a:pPr marL="342900" lvl="0" indent="-342900">
              <a:spcBef>
                <a:spcPct val="20000"/>
              </a:spcBef>
            </a:pPr>
            <a:r>
              <a:rPr lang="en-US" sz="3200" dirty="0" smtClean="0"/>
              <a:t>}		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rgbClr val="0070C0"/>
                </a:solidFill>
              </a:rPr>
              <a:t>Utilizare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CSS</a:t>
            </a:r>
            <a:r>
              <a:rPr lang="en-US" dirty="0" smtClean="0">
                <a:solidFill>
                  <a:srgbClr val="0070C0"/>
                </a:solidFill>
              </a:rPr>
              <a:t> intern </a:t>
            </a:r>
            <a:r>
              <a:rPr lang="en-US" b="1" dirty="0" smtClean="0">
                <a:solidFill>
                  <a:srgbClr val="0070C0"/>
                </a:solidFill>
              </a:rPr>
              <a:t>&lt;style&gt;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1600" dirty="0" smtClean="0"/>
              <a:t>index.html</a:t>
            </a:r>
          </a:p>
          <a:p>
            <a:pPr>
              <a:buNone/>
            </a:pPr>
            <a:endParaRPr lang="en-US" sz="1600" dirty="0" smtClean="0"/>
          </a:p>
          <a:p>
            <a:pPr>
              <a:buNone/>
            </a:pPr>
            <a:r>
              <a:rPr lang="en-US" sz="1600" dirty="0" smtClean="0">
                <a:solidFill>
                  <a:srgbClr val="00B050"/>
                </a:solidFill>
              </a:rPr>
              <a:t>&lt;head&gt;</a:t>
            </a:r>
          </a:p>
          <a:p>
            <a:pPr>
              <a:buNone/>
            </a:pPr>
            <a:r>
              <a:rPr lang="en-US" sz="1600" dirty="0" smtClean="0"/>
              <a:t>	</a:t>
            </a:r>
            <a:r>
              <a:rPr lang="en-US" sz="1600" dirty="0" smtClean="0">
                <a:solidFill>
                  <a:srgbClr val="00B050"/>
                </a:solidFill>
              </a:rPr>
              <a:t>&lt;style </a:t>
            </a:r>
            <a:r>
              <a:rPr lang="en-US" sz="1600" dirty="0" smtClean="0">
                <a:solidFill>
                  <a:srgbClr val="0070C0"/>
                </a:solidFill>
              </a:rPr>
              <a:t>media</a:t>
            </a:r>
            <a:r>
              <a:rPr lang="en-US" sz="1600" dirty="0" smtClean="0">
                <a:solidFill>
                  <a:srgbClr val="00B050"/>
                </a:solidFill>
              </a:rPr>
              <a:t>="screen"&gt;</a:t>
            </a:r>
          </a:p>
          <a:p>
            <a:pPr>
              <a:buNone/>
            </a:pPr>
            <a:r>
              <a:rPr lang="en-US" sz="1600" dirty="0" smtClean="0">
                <a:solidFill>
                  <a:srgbClr val="00B050"/>
                </a:solidFill>
              </a:rPr>
              <a:t>	     body </a:t>
            </a:r>
            <a:r>
              <a:rPr lang="en-US" sz="1600" dirty="0" smtClean="0"/>
              <a:t>{</a:t>
            </a:r>
          </a:p>
          <a:p>
            <a:pPr lvl="1">
              <a:buNone/>
            </a:pPr>
            <a:r>
              <a:rPr lang="en-US" sz="1600" dirty="0" smtClean="0"/>
              <a:t>        font-family: Arial;</a:t>
            </a:r>
          </a:p>
          <a:p>
            <a:pPr>
              <a:buNone/>
            </a:pPr>
            <a:r>
              <a:rPr lang="en-US" sz="1600" dirty="0" smtClean="0"/>
              <a:t>                 background-color</a:t>
            </a:r>
            <a:r>
              <a:rPr lang="en-US" sz="1600" dirty="0" smtClean="0">
                <a:solidFill>
                  <a:srgbClr val="00B050"/>
                </a:solidFill>
              </a:rPr>
              <a:t>: </a:t>
            </a:r>
            <a:r>
              <a:rPr lang="en-US" sz="1600" dirty="0" err="1" smtClean="0">
                <a:solidFill>
                  <a:srgbClr val="0070C0"/>
                </a:solidFill>
              </a:rPr>
              <a:t>rgb</a:t>
            </a:r>
            <a:r>
              <a:rPr lang="en-US" sz="1600" dirty="0" smtClean="0"/>
              <a:t>(</a:t>
            </a:r>
            <a:r>
              <a:rPr lang="en-US" sz="1600" dirty="0" smtClean="0">
                <a:solidFill>
                  <a:srgbClr val="00B050"/>
                </a:solidFill>
              </a:rPr>
              <a:t>185</a:t>
            </a:r>
            <a:r>
              <a:rPr lang="en-US" sz="1600" dirty="0" smtClean="0"/>
              <a:t>,</a:t>
            </a:r>
            <a:r>
              <a:rPr lang="en-US" sz="1600" dirty="0" smtClean="0">
                <a:solidFill>
                  <a:srgbClr val="00B050"/>
                </a:solidFill>
              </a:rPr>
              <a:t>179</a:t>
            </a:r>
            <a:r>
              <a:rPr lang="en-US" sz="1600" dirty="0" smtClean="0"/>
              <a:t>,</a:t>
            </a:r>
            <a:r>
              <a:rPr lang="en-US" sz="1600" dirty="0" smtClean="0">
                <a:solidFill>
                  <a:srgbClr val="00B050"/>
                </a:solidFill>
              </a:rPr>
              <a:t>175</a:t>
            </a:r>
            <a:r>
              <a:rPr lang="en-US" sz="1600" dirty="0" smtClean="0"/>
              <a:t>);</a:t>
            </a:r>
          </a:p>
          <a:p>
            <a:pPr>
              <a:buNone/>
            </a:pPr>
            <a:r>
              <a:rPr lang="en-US" sz="1600" dirty="0" smtClean="0">
                <a:solidFill>
                  <a:srgbClr val="00B050"/>
                </a:solidFill>
              </a:rPr>
              <a:t>	</a:t>
            </a:r>
            <a:r>
              <a:rPr lang="en-US" sz="1600" dirty="0" smtClean="0"/>
              <a:t>     }</a:t>
            </a:r>
          </a:p>
          <a:p>
            <a:pPr>
              <a:buNone/>
            </a:pPr>
            <a:r>
              <a:rPr lang="en-US" sz="1600" dirty="0" smtClean="0">
                <a:solidFill>
                  <a:srgbClr val="00B050"/>
                </a:solidFill>
              </a:rPr>
              <a:t>	     h3 </a:t>
            </a:r>
            <a:r>
              <a:rPr lang="en-US" sz="1600" dirty="0" smtClean="0"/>
              <a:t>{</a:t>
            </a:r>
          </a:p>
          <a:p>
            <a:pPr>
              <a:buNone/>
            </a:pPr>
            <a:r>
              <a:rPr lang="en-US" sz="1600" dirty="0" smtClean="0">
                <a:solidFill>
                  <a:srgbClr val="00B050"/>
                </a:solidFill>
              </a:rPr>
              <a:t>	          color: </a:t>
            </a:r>
            <a:r>
              <a:rPr lang="en-US" sz="1600" dirty="0" err="1" smtClean="0">
                <a:solidFill>
                  <a:srgbClr val="0070C0"/>
                </a:solidFill>
              </a:rPr>
              <a:t>rgb</a:t>
            </a:r>
            <a:r>
              <a:rPr lang="en-US" sz="1600" dirty="0" smtClean="0"/>
              <a:t>(</a:t>
            </a:r>
            <a:r>
              <a:rPr lang="en-US" sz="1600" dirty="0" smtClean="0">
                <a:solidFill>
                  <a:srgbClr val="00B050"/>
                </a:solidFill>
              </a:rPr>
              <a:t>255</a:t>
            </a:r>
            <a:r>
              <a:rPr lang="en-US" sz="1600" dirty="0" smtClean="0"/>
              <a:t>,</a:t>
            </a:r>
            <a:r>
              <a:rPr lang="en-US" sz="1600" dirty="0" smtClean="0">
                <a:solidFill>
                  <a:srgbClr val="00B050"/>
                </a:solidFill>
              </a:rPr>
              <a:t>255</a:t>
            </a:r>
            <a:r>
              <a:rPr lang="en-US" sz="1600" dirty="0" smtClean="0"/>
              <a:t>,</a:t>
            </a:r>
            <a:r>
              <a:rPr lang="en-US" sz="1600" dirty="0" smtClean="0">
                <a:solidFill>
                  <a:srgbClr val="00B050"/>
                </a:solidFill>
              </a:rPr>
              <a:t>255</a:t>
            </a:r>
            <a:r>
              <a:rPr lang="en-US" sz="1600" dirty="0" smtClean="0"/>
              <a:t>);</a:t>
            </a:r>
          </a:p>
          <a:p>
            <a:pPr>
              <a:buNone/>
            </a:pPr>
            <a:r>
              <a:rPr lang="en-US" sz="1600" dirty="0" smtClean="0"/>
              <a:t>	     }</a:t>
            </a:r>
          </a:p>
          <a:p>
            <a:pPr>
              <a:buNone/>
            </a:pPr>
            <a:r>
              <a:rPr lang="en-US" sz="1600" dirty="0" smtClean="0">
                <a:solidFill>
                  <a:srgbClr val="00B050"/>
                </a:solidFill>
              </a:rPr>
              <a:t>	&lt;/style&gt;</a:t>
            </a:r>
          </a:p>
          <a:p>
            <a:pPr>
              <a:buNone/>
            </a:pPr>
            <a:r>
              <a:rPr lang="en-US" sz="1600" dirty="0" smtClean="0">
                <a:solidFill>
                  <a:srgbClr val="00B050"/>
                </a:solidFill>
              </a:rPr>
              <a:t>&lt;/head&gt;</a:t>
            </a:r>
          </a:p>
          <a:p>
            <a:pPr>
              <a:buNone/>
            </a:pPr>
            <a:r>
              <a:rPr lang="en-US" sz="1600" dirty="0" smtClean="0">
                <a:solidFill>
                  <a:srgbClr val="00B050"/>
                </a:solidFill>
              </a:rPr>
              <a:t>&lt;body&gt;</a:t>
            </a:r>
          </a:p>
          <a:p>
            <a:pPr>
              <a:buNone/>
            </a:pPr>
            <a:r>
              <a:rPr lang="en-US" sz="1600" dirty="0" smtClean="0">
                <a:solidFill>
                  <a:srgbClr val="00B050"/>
                </a:solidFill>
              </a:rPr>
              <a:t>	&lt;h3&gt;</a:t>
            </a:r>
            <a:r>
              <a:rPr lang="en-US" sz="1600" dirty="0" err="1" smtClean="0"/>
              <a:t>Utilizare</a:t>
            </a:r>
            <a:r>
              <a:rPr lang="en-US" sz="1600" dirty="0" smtClean="0"/>
              <a:t> </a:t>
            </a:r>
            <a:r>
              <a:rPr lang="en-US" sz="1600" dirty="0" err="1" smtClean="0"/>
              <a:t>CSS</a:t>
            </a:r>
            <a:r>
              <a:rPr lang="en-US" sz="1600" dirty="0" smtClean="0"/>
              <a:t> intern</a:t>
            </a:r>
            <a:r>
              <a:rPr lang="en-US" sz="1600" dirty="0" smtClean="0">
                <a:solidFill>
                  <a:srgbClr val="00B050"/>
                </a:solidFill>
              </a:rPr>
              <a:t>&lt;/h3&gt;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Recomandare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: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Utilizați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CSS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extern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smtClean="0">
                <a:latin typeface="Calibri" pitchFamily="34" charset="0"/>
                <a:cs typeface="Calibri" pitchFamily="34" charset="0"/>
              </a:rPr>
              <a:t>toate paginile utilizează 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același stil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 (în loc să o repeta pe fiecare pagină);</a:t>
            </a:r>
          </a:p>
          <a:p>
            <a:r>
              <a:rPr lang="vi-VN" dirty="0" smtClean="0">
                <a:latin typeface="Calibri" pitchFamily="34" charset="0"/>
                <a:cs typeface="Calibri" pitchFamily="34" charset="0"/>
              </a:rPr>
              <a:t>păstrează conținutul 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separat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 de aspectul paginii;</a:t>
            </a:r>
          </a:p>
          <a:p>
            <a:r>
              <a:rPr lang="vi-VN" dirty="0" smtClean="0">
                <a:latin typeface="Calibri" pitchFamily="34" charset="0"/>
                <a:cs typeface="Calibri" pitchFamily="34" charset="0"/>
              </a:rPr>
              <a:t>Schimbarea stilului pentru mai multe pagini prin editarea a 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unui singur fișier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pPr>
              <a:buNone/>
            </a:pP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Selectori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element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295400"/>
          <a:ext cx="82296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0480"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Selector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1440" indent="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dirty="0" err="1"/>
                        <a:t>Semnificație</a:t>
                      </a:r>
                      <a:endParaRPr 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1440" indent="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dirty="0" err="1"/>
                        <a:t>Exemplu</a:t>
                      </a:r>
                      <a:endParaRPr lang="en-US" dirty="0"/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dirty="0" smtClean="0"/>
                        <a:t>selector universal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i="1" dirty="0" smtClean="0"/>
                        <a:t>se aplică tuturor elementelor din document</a:t>
                      </a:r>
                      <a:endParaRPr lang="en-US" sz="1400" i="1" dirty="0" smtClean="0"/>
                    </a:p>
                  </a:txBody>
                  <a:tcPr marL="9525" marR="9525" marT="0" marB="0"/>
                </a:tc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* {}</a:t>
                      </a:r>
                    </a:p>
                  </a:txBody>
                  <a:tcPr marL="9525" marR="70231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dirty="0" smtClean="0"/>
                        <a:t>selector de tip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 smtClean="0"/>
                        <a:t>se </a:t>
                      </a:r>
                      <a:r>
                        <a:rPr lang="en-US" sz="1400" i="1" dirty="0" err="1" smtClean="0"/>
                        <a:t>potrivește</a:t>
                      </a:r>
                      <a:r>
                        <a:rPr lang="en-US" sz="1400" i="1" dirty="0" smtClean="0"/>
                        <a:t> cu </a:t>
                      </a:r>
                      <a:r>
                        <a:rPr lang="en-US" sz="1400" i="1" dirty="0" err="1" smtClean="0"/>
                        <a:t>numele</a:t>
                      </a:r>
                      <a:r>
                        <a:rPr lang="en-US" sz="1400" i="1" dirty="0" smtClean="0"/>
                        <a:t> </a:t>
                      </a:r>
                      <a:r>
                        <a:rPr lang="en-US" sz="1400" i="1" dirty="0" err="1" smtClean="0"/>
                        <a:t>elementelor</a:t>
                      </a:r>
                      <a:endParaRPr lang="en-US" sz="1400" i="1" dirty="0" smtClean="0"/>
                    </a:p>
                  </a:txBody>
                  <a:tcPr marL="9525" marR="9525" marT="0" marB="0"/>
                </a:tc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h1, h2, h3 {}</a:t>
                      </a:r>
                    </a:p>
                  </a:txBody>
                  <a:tcPr marL="9525" marR="70231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dirty="0" smtClean="0"/>
                        <a:t>selector de </a:t>
                      </a:r>
                      <a:r>
                        <a:rPr lang="en-US" dirty="0" err="1" smtClean="0"/>
                        <a:t>clasă</a:t>
                      </a:r>
                      <a:endParaRPr lang="en-US" dirty="0" smtClean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 err="1" smtClean="0"/>
                        <a:t>elemente</a:t>
                      </a:r>
                      <a:r>
                        <a:rPr lang="en-US" sz="1400" i="1" dirty="0" smtClean="0"/>
                        <a:t> cu </a:t>
                      </a:r>
                      <a:r>
                        <a:rPr lang="en-US" sz="1400" i="1" dirty="0" err="1" smtClean="0"/>
                        <a:t>numele</a:t>
                      </a:r>
                      <a:r>
                        <a:rPr lang="en-US" sz="1400" i="1" dirty="0" smtClean="0"/>
                        <a:t> </a:t>
                      </a:r>
                      <a:r>
                        <a:rPr lang="en-US" sz="1400" i="1" dirty="0" err="1" smtClean="0"/>
                        <a:t>acestei</a:t>
                      </a:r>
                      <a:r>
                        <a:rPr lang="en-US" sz="1400" i="1" dirty="0" smtClean="0"/>
                        <a:t> </a:t>
                      </a:r>
                      <a:r>
                        <a:rPr lang="en-US" sz="1400" i="1" dirty="0" err="1" smtClean="0"/>
                        <a:t>clase</a:t>
                      </a:r>
                      <a:endParaRPr lang="en-US" sz="1400" i="1" dirty="0" smtClean="0"/>
                    </a:p>
                  </a:txBody>
                  <a:tcPr marL="9525" marR="9525" marT="0" marB="0"/>
                </a:tc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.note {} </a:t>
                      </a:r>
                      <a:r>
                        <a:rPr lang="en-US" b="1" dirty="0" err="1" smtClean="0"/>
                        <a:t>p.note</a:t>
                      </a:r>
                      <a:r>
                        <a:rPr lang="en-US" b="1" dirty="0" smtClean="0"/>
                        <a:t> {}</a:t>
                      </a:r>
                    </a:p>
                  </a:txBody>
                  <a:tcPr marL="9525" marR="70231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dirty="0" smtClean="0"/>
                        <a:t>selector ID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 err="1" smtClean="0"/>
                        <a:t>Elemente</a:t>
                      </a:r>
                      <a:r>
                        <a:rPr lang="en-US" sz="1400" i="1" dirty="0" smtClean="0"/>
                        <a:t> cu </a:t>
                      </a:r>
                      <a:r>
                        <a:rPr lang="en-US" sz="1400" i="1" dirty="0" err="1" smtClean="0"/>
                        <a:t>acest</a:t>
                      </a:r>
                      <a:r>
                        <a:rPr lang="en-US" sz="1400" i="1" dirty="0" smtClean="0"/>
                        <a:t> ID</a:t>
                      </a:r>
                    </a:p>
                  </a:txBody>
                  <a:tcPr marL="9525" marR="9525" marT="0" marB="0"/>
                </a:tc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#introduction {}</a:t>
                      </a:r>
                    </a:p>
                  </a:txBody>
                  <a:tcPr marL="9525" marR="70231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dirty="0" smtClean="0"/>
                        <a:t>selector </a:t>
                      </a:r>
                      <a:r>
                        <a:rPr lang="en-US" dirty="0" err="1" smtClean="0"/>
                        <a:t>copil</a:t>
                      </a:r>
                      <a:endParaRPr lang="en-US" dirty="0" smtClean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 err="1" smtClean="0"/>
                        <a:t>elementul</a:t>
                      </a:r>
                      <a:r>
                        <a:rPr lang="en-US" sz="1400" i="1" dirty="0" smtClean="0"/>
                        <a:t> care </a:t>
                      </a:r>
                      <a:r>
                        <a:rPr lang="en-US" sz="1400" i="1" dirty="0" err="1" smtClean="0"/>
                        <a:t>este</a:t>
                      </a:r>
                      <a:r>
                        <a:rPr lang="en-US" sz="1400" i="1" dirty="0" smtClean="0"/>
                        <a:t> </a:t>
                      </a:r>
                      <a:r>
                        <a:rPr lang="en-US" sz="1400" i="1" dirty="0" err="1" smtClean="0"/>
                        <a:t>copilul</a:t>
                      </a:r>
                      <a:r>
                        <a:rPr lang="en-US" sz="1400" i="1" dirty="0" smtClean="0"/>
                        <a:t> direct al </a:t>
                      </a:r>
                      <a:r>
                        <a:rPr lang="en-US" sz="1400" i="1" dirty="0" err="1" smtClean="0"/>
                        <a:t>altui</a:t>
                      </a:r>
                      <a:r>
                        <a:rPr lang="en-US" sz="1400" i="1" dirty="0" smtClean="0"/>
                        <a:t> element</a:t>
                      </a:r>
                    </a:p>
                  </a:txBody>
                  <a:tcPr marL="9525" marR="9525" marT="0" marB="0"/>
                </a:tc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 smtClean="0"/>
                        <a:t>li</a:t>
                      </a:r>
                      <a:r>
                        <a:rPr lang="en-US" b="1" dirty="0" smtClean="0"/>
                        <a:t> &gt; a {}</a:t>
                      </a:r>
                    </a:p>
                  </a:txBody>
                  <a:tcPr marL="9525" marR="70231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dirty="0" smtClean="0"/>
                        <a:t>selector de descendent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 err="1" smtClean="0"/>
                        <a:t>elementul</a:t>
                      </a:r>
                      <a:r>
                        <a:rPr lang="en-US" sz="1400" i="1" dirty="0" smtClean="0"/>
                        <a:t> care </a:t>
                      </a:r>
                      <a:r>
                        <a:rPr lang="en-US" sz="1400" i="1" dirty="0" err="1" smtClean="0"/>
                        <a:t>este</a:t>
                      </a:r>
                      <a:r>
                        <a:rPr lang="en-US" sz="1400" i="1" dirty="0" smtClean="0"/>
                        <a:t> descendent al </a:t>
                      </a:r>
                      <a:r>
                        <a:rPr lang="en-US" sz="1400" i="1" dirty="0" err="1" smtClean="0"/>
                        <a:t>altui</a:t>
                      </a:r>
                      <a:r>
                        <a:rPr lang="en-US" sz="1400" i="1" dirty="0" smtClean="0"/>
                        <a:t> element</a:t>
                      </a:r>
                    </a:p>
                  </a:txBody>
                  <a:tcPr marL="9525" marR="9525" marT="0" marB="0"/>
                </a:tc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p a {}</a:t>
                      </a:r>
                    </a:p>
                  </a:txBody>
                  <a:tcPr marL="9525" marR="70231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dirty="0" smtClean="0"/>
                        <a:t>selector </a:t>
                      </a:r>
                      <a:r>
                        <a:rPr lang="en-US" dirty="0" err="1" smtClean="0"/>
                        <a:t>frați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adiacenți</a:t>
                      </a:r>
                      <a:endParaRPr lang="en-US" dirty="0" smtClean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 err="1" smtClean="0"/>
                        <a:t>elementul</a:t>
                      </a:r>
                      <a:r>
                        <a:rPr lang="en-US" sz="1400" i="1" dirty="0" smtClean="0"/>
                        <a:t> care </a:t>
                      </a:r>
                      <a:r>
                        <a:rPr lang="en-US" sz="1400" i="1" dirty="0" err="1" smtClean="0"/>
                        <a:t>este</a:t>
                      </a:r>
                      <a:r>
                        <a:rPr lang="en-US" sz="1400" i="1" dirty="0" smtClean="0"/>
                        <a:t> </a:t>
                      </a:r>
                      <a:r>
                        <a:rPr lang="en-US" sz="1400" i="1" dirty="0" err="1" smtClean="0"/>
                        <a:t>următorul</a:t>
                      </a:r>
                      <a:r>
                        <a:rPr lang="en-US" sz="1400" i="1" dirty="0" smtClean="0"/>
                        <a:t> </a:t>
                      </a:r>
                      <a:r>
                        <a:rPr lang="en-US" sz="1400" i="1" dirty="0" err="1" smtClean="0"/>
                        <a:t>frate</a:t>
                      </a:r>
                      <a:r>
                        <a:rPr lang="en-US" sz="1400" i="1" dirty="0" smtClean="0"/>
                        <a:t> al </a:t>
                      </a:r>
                      <a:r>
                        <a:rPr lang="en-US" sz="1400" i="1" dirty="0" err="1" smtClean="0"/>
                        <a:t>altui</a:t>
                      </a:r>
                      <a:r>
                        <a:rPr lang="en-US" sz="1400" i="1" dirty="0" smtClean="0"/>
                        <a:t> element</a:t>
                      </a:r>
                    </a:p>
                  </a:txBody>
                  <a:tcPr marL="9525" marR="9525" marT="0" marB="0"/>
                </a:tc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h1+p {}</a:t>
                      </a:r>
                    </a:p>
                  </a:txBody>
                  <a:tcPr marL="9525" marR="70231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dirty="0" smtClean="0"/>
                        <a:t>selector de </a:t>
                      </a:r>
                      <a:r>
                        <a:rPr lang="en-US" dirty="0" err="1" smtClean="0"/>
                        <a:t>frate</a:t>
                      </a:r>
                      <a:endParaRPr lang="en-US" dirty="0" smtClean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1" dirty="0" smtClean="0"/>
                        <a:t>element care </a:t>
                      </a:r>
                      <a:r>
                        <a:rPr lang="en-US" sz="1400" i="1" dirty="0" err="1" smtClean="0"/>
                        <a:t>este</a:t>
                      </a:r>
                      <a:r>
                        <a:rPr lang="en-US" sz="1400" i="1" dirty="0" smtClean="0"/>
                        <a:t> </a:t>
                      </a:r>
                      <a:r>
                        <a:rPr lang="en-US" sz="1400" i="1" dirty="0" err="1" smtClean="0"/>
                        <a:t>fratele</a:t>
                      </a:r>
                      <a:r>
                        <a:rPr lang="en-US" sz="1400" i="1" dirty="0" smtClean="0"/>
                        <a:t> </a:t>
                      </a:r>
                      <a:r>
                        <a:rPr lang="en-US" sz="1400" i="1" dirty="0" err="1" smtClean="0"/>
                        <a:t>altui</a:t>
                      </a:r>
                      <a:r>
                        <a:rPr lang="en-US" sz="1400" i="1" dirty="0" smtClean="0"/>
                        <a:t> element</a:t>
                      </a:r>
                    </a:p>
                  </a:txBody>
                  <a:tcPr marL="9525" marR="9525" marT="0" marB="0"/>
                </a:tc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h1~p {}</a:t>
                      </a:r>
                    </a:p>
                    <a:p>
                      <a:pPr marL="91440" indent="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</a:pPr>
                      <a:endParaRPr lang="en-US" b="1" dirty="0"/>
                    </a:p>
                  </a:txBody>
                  <a:tcPr marL="9525" marR="70231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Selectori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atribut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295400"/>
          <a:ext cx="8229600" cy="440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0480"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Selector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1440" indent="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dirty="0" err="1"/>
                        <a:t>Semnificație</a:t>
                      </a:r>
                      <a:endParaRPr lang="en-US" dirty="0"/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1440" indent="0" algn="l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dirty="0" err="1"/>
                        <a:t>Exemplu</a:t>
                      </a:r>
                      <a:endParaRPr lang="en-US" dirty="0"/>
                    </a:p>
                  </a:txBody>
                  <a:tcPr marL="68580" marR="68580" marT="0" marB="0"/>
                </a:tc>
              </a:tr>
              <a:tr h="370840"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vi-VN" sz="1800" b="0" i="0" kern="1200" dirty="0" smtClean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existență</a:t>
                      </a:r>
                      <a:endParaRPr lang="en-US" dirty="0" smtClean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400" b="0" i="0" dirty="0" err="1">
                          <a:latin typeface="+mn-lt"/>
                        </a:rPr>
                        <a:t>elementul</a:t>
                      </a:r>
                      <a:r>
                        <a:rPr lang="en-US" sz="1400" b="0" i="0" dirty="0">
                          <a:latin typeface="+mn-lt"/>
                        </a:rPr>
                        <a:t> care are un </a:t>
                      </a:r>
                      <a:r>
                        <a:rPr lang="en-US" sz="1400" b="0" i="0" dirty="0" err="1">
                          <a:latin typeface="+mn-lt"/>
                        </a:rPr>
                        <a:t>atribut</a:t>
                      </a:r>
                      <a:r>
                        <a:rPr lang="en-US" sz="1400" b="0" i="0" dirty="0">
                          <a:latin typeface="+mn-lt"/>
                        </a:rPr>
                        <a:t> specific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Calibri" pitchFamily="34" charset="0"/>
                          <a:cs typeface="Calibri" pitchFamily="34" charset="0"/>
                        </a:rPr>
                        <a:t>p[class] {}</a:t>
                      </a:r>
                    </a:p>
                  </a:txBody>
                  <a:tcPr marR="914400" anchor="ctr"/>
                </a:tc>
              </a:tr>
              <a:tr h="370840"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egalitate</a:t>
                      </a:r>
                      <a:endParaRPr lang="en-US" dirty="0" smtClean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vi-VN" sz="1400" b="0" i="0" dirty="0">
                          <a:latin typeface="Calibri" pitchFamily="34" charset="0"/>
                          <a:cs typeface="Calibri" pitchFamily="34" charset="0"/>
                        </a:rPr>
                        <a:t>elementul care are un atribut specific cu o valoare specifică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Calibri" pitchFamily="34" charset="0"/>
                          <a:cs typeface="Calibri" pitchFamily="34" charset="0"/>
                        </a:rPr>
                        <a:t>p[class="note"] {}</a:t>
                      </a:r>
                    </a:p>
                  </a:txBody>
                  <a:tcPr marR="914400" anchor="ctr"/>
                </a:tc>
              </a:tr>
              <a:tr h="370840"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spațiu</a:t>
                      </a:r>
                      <a:endParaRPr lang="en-US" dirty="0" smtClean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vi-VN" sz="1400" b="0" i="0" dirty="0">
                          <a:latin typeface="Calibri" pitchFamily="34" charset="0"/>
                          <a:cs typeface="Calibri" pitchFamily="34" charset="0"/>
                        </a:rPr>
                        <a:t>elementul care are un atribut specific cu o valoare specifică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Calibri" pitchFamily="34" charset="0"/>
                          <a:cs typeface="Calibri" pitchFamily="34" charset="0"/>
                        </a:rPr>
                        <a:t>p[class~="note"] {}</a:t>
                      </a:r>
                    </a:p>
                  </a:txBody>
                  <a:tcPr marR="914400" anchor="ctr"/>
                </a:tc>
              </a:tr>
              <a:tr h="370840"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prefix</a:t>
                      </a:r>
                      <a:endParaRPr lang="en-US" dirty="0" smtClean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400" b="0" i="0" dirty="0" err="1" smtClean="0">
                          <a:latin typeface="+mn-lt"/>
                        </a:rPr>
                        <a:t>elementul</a:t>
                      </a:r>
                      <a:r>
                        <a:rPr lang="en-US" sz="1400" b="0" i="0" dirty="0" smtClean="0">
                          <a:latin typeface="+mn-lt"/>
                        </a:rPr>
                        <a:t> </a:t>
                      </a:r>
                      <a:r>
                        <a:rPr lang="en-US" sz="1400" b="0" i="0" dirty="0">
                          <a:latin typeface="+mn-lt"/>
                        </a:rPr>
                        <a:t>cu o </a:t>
                      </a:r>
                      <a:r>
                        <a:rPr lang="en-US" sz="1400" b="0" i="0" dirty="0" err="1">
                          <a:latin typeface="+mn-lt"/>
                        </a:rPr>
                        <a:t>valoare</a:t>
                      </a:r>
                      <a:r>
                        <a:rPr lang="en-US" sz="1400" b="0" i="0" dirty="0">
                          <a:latin typeface="+mn-lt"/>
                        </a:rPr>
                        <a:t> de </a:t>
                      </a:r>
                      <a:r>
                        <a:rPr lang="en-US" sz="1400" b="0" i="0" dirty="0" err="1">
                          <a:latin typeface="+mn-lt"/>
                        </a:rPr>
                        <a:t>atribut</a:t>
                      </a:r>
                      <a:r>
                        <a:rPr lang="en-US" sz="1400" b="0" i="0" dirty="0">
                          <a:latin typeface="+mn-lt"/>
                        </a:rPr>
                        <a:t> care </a:t>
                      </a:r>
                      <a:r>
                        <a:rPr lang="en-US" sz="1400" b="0" i="0" dirty="0" err="1">
                          <a:latin typeface="+mn-lt"/>
                        </a:rPr>
                        <a:t>începe</a:t>
                      </a:r>
                      <a:r>
                        <a:rPr lang="en-US" sz="1400" b="0" i="0" dirty="0">
                          <a:latin typeface="+mn-lt"/>
                        </a:rPr>
                        <a:t> cu un </a:t>
                      </a:r>
                      <a:r>
                        <a:rPr lang="en-US" sz="1400" b="0" i="0" dirty="0" err="1">
                          <a:latin typeface="+mn-lt"/>
                        </a:rPr>
                        <a:t>anumit</a:t>
                      </a:r>
                      <a:r>
                        <a:rPr lang="en-US" sz="1400" b="0" i="0" dirty="0">
                          <a:latin typeface="+mn-lt"/>
                        </a:rPr>
                        <a:t/>
                      </a:r>
                      <a:br>
                        <a:rPr lang="en-US" sz="1400" b="0" i="0" dirty="0">
                          <a:latin typeface="+mn-lt"/>
                        </a:rPr>
                      </a:br>
                      <a:r>
                        <a:rPr lang="en-US" sz="1400" b="0" i="0" dirty="0" err="1">
                          <a:latin typeface="+mn-lt"/>
                        </a:rPr>
                        <a:t>șir</a:t>
                      </a:r>
                      <a:r>
                        <a:rPr lang="en-US" sz="1400" b="0" i="0" dirty="0">
                          <a:latin typeface="+mn-lt"/>
                        </a:rPr>
                        <a:t> de </a:t>
                      </a:r>
                      <a:r>
                        <a:rPr lang="en-US" sz="1400" b="0" i="0" dirty="0" err="1">
                          <a:latin typeface="+mn-lt"/>
                        </a:rPr>
                        <a:t>caractere</a:t>
                      </a:r>
                      <a:endParaRPr lang="en-US" sz="1400" b="0" i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Calibri" pitchFamily="34" charset="0"/>
                          <a:cs typeface="Calibri" pitchFamily="34" charset="0"/>
                        </a:rPr>
                        <a:t>p[class^="n"] {}</a:t>
                      </a:r>
                    </a:p>
                  </a:txBody>
                  <a:tcPr marR="914400" anchor="ctr"/>
                </a:tc>
              </a:tr>
              <a:tr h="370840"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subșir</a:t>
                      </a:r>
                      <a:endParaRPr lang="en-US" dirty="0" smtClean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4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elementul cu o valoare a atributului, care conține un anumit subșir</a:t>
                      </a:r>
                      <a:endParaRPr lang="en-US" sz="1400" b="0" i="0" dirty="0" smtClean="0">
                        <a:latin typeface="+mn-lt"/>
                      </a:endParaRPr>
                    </a:p>
                  </a:txBody>
                  <a:tcPr marL="9525" marR="9525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Calibri" pitchFamily="34" charset="0"/>
                          <a:cs typeface="Calibri" pitchFamily="34" charset="0"/>
                        </a:rPr>
                        <a:t>p[class*="no"] {}</a:t>
                      </a:r>
                    </a:p>
                  </a:txBody>
                  <a:tcPr marR="914400" anchor="ctr"/>
                </a:tc>
              </a:tr>
              <a:tr h="370840">
                <a:tc>
                  <a:txBody>
                    <a:bodyPr/>
                    <a:lstStyle/>
                    <a:p>
                      <a:pPr marL="9144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sufix</a:t>
                      </a:r>
                      <a:endParaRPr lang="en-US" dirty="0" smtClean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vi-VN" sz="1400" b="0" i="0" dirty="0" smtClean="0">
                          <a:latin typeface="Calibri" pitchFamily="34" charset="0"/>
                          <a:cs typeface="Calibri" pitchFamily="34" charset="0"/>
                        </a:rPr>
                        <a:t>elementul </a:t>
                      </a:r>
                      <a:r>
                        <a:rPr lang="vi-VN" sz="1400" b="0" i="0" dirty="0">
                          <a:latin typeface="Calibri" pitchFamily="34" charset="0"/>
                          <a:cs typeface="Calibri" pitchFamily="34" charset="0"/>
                        </a:rPr>
                        <a:t>cu o valoare a atributului, care se termină cu un anumit</a:t>
                      </a:r>
                      <a:br>
                        <a:rPr lang="vi-VN" sz="1400" b="0" i="0" dirty="0">
                          <a:latin typeface="Calibri" pitchFamily="34" charset="0"/>
                          <a:cs typeface="Calibri" pitchFamily="34" charset="0"/>
                        </a:rPr>
                      </a:br>
                      <a:r>
                        <a:rPr lang="vi-VN" sz="1400" b="0" i="0" dirty="0">
                          <a:latin typeface="Calibri" pitchFamily="34" charset="0"/>
                          <a:cs typeface="Calibri" pitchFamily="34" charset="0"/>
                        </a:rPr>
                        <a:t>subșir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latin typeface="Calibri" pitchFamily="34" charset="0"/>
                          <a:cs typeface="Calibri" pitchFamily="34" charset="0"/>
                        </a:rPr>
                        <a:t>p[class$="</a:t>
                      </a:r>
                      <a:r>
                        <a:rPr lang="en-US" sz="1800" b="1" dirty="0" err="1">
                          <a:latin typeface="Calibri" pitchFamily="34" charset="0"/>
                          <a:cs typeface="Calibri" pitchFamily="34" charset="0"/>
                        </a:rPr>
                        <a:t>te</a:t>
                      </a:r>
                      <a:r>
                        <a:rPr lang="en-US" sz="1800" b="1" dirty="0">
                          <a:latin typeface="Calibri" pitchFamily="34" charset="0"/>
                          <a:cs typeface="Calibri" pitchFamily="34" charset="0"/>
                        </a:rPr>
                        <a:t>"] {}</a:t>
                      </a:r>
                    </a:p>
                  </a:txBody>
                  <a:tcPr marR="9144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Pseudo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elemente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vi-VN" i="1" dirty="0" smtClean="0">
                <a:latin typeface="Calibri" pitchFamily="34" charset="0"/>
                <a:cs typeface="Calibri" pitchFamily="34" charset="0"/>
              </a:rPr>
              <a:t>se comportă ca un element suplimentar în cod.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style.css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err="1" smtClean="0">
                <a:solidFill>
                  <a:srgbClr val="00B050"/>
                </a:solidFill>
              </a:rPr>
              <a:t>p</a:t>
            </a:r>
            <a:r>
              <a:rPr lang="en-US" dirty="0" err="1" smtClean="0"/>
              <a:t>.note:</a:t>
            </a:r>
            <a:r>
              <a:rPr lang="en-US" dirty="0" err="1" smtClean="0">
                <a:solidFill>
                  <a:srgbClr val="00B050"/>
                </a:solidFill>
              </a:rPr>
              <a:t>first</a:t>
            </a:r>
            <a:r>
              <a:rPr lang="en-US" dirty="0" smtClean="0">
                <a:solidFill>
                  <a:srgbClr val="00B050"/>
                </a:solidFill>
              </a:rPr>
              <a:t>-letter</a:t>
            </a:r>
            <a:r>
              <a:rPr lang="en-US" dirty="0" smtClean="0"/>
              <a:t> {</a:t>
            </a:r>
          </a:p>
          <a:p>
            <a:pPr>
              <a:buNone/>
            </a:pPr>
            <a:r>
              <a:rPr lang="en-US" dirty="0" smtClean="0"/>
              <a:t>	font-size: </a:t>
            </a:r>
            <a:r>
              <a:rPr lang="en-US" dirty="0" smtClean="0">
                <a:solidFill>
                  <a:srgbClr val="92D050"/>
                </a:solidFill>
              </a:rPr>
              <a:t>200%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}</a:t>
            </a:r>
          </a:p>
          <a:p>
            <a:pPr>
              <a:buNone/>
            </a:pPr>
            <a:r>
              <a:rPr lang="en-US" dirty="0" err="1" smtClean="0">
                <a:solidFill>
                  <a:srgbClr val="00B050"/>
                </a:solidFill>
              </a:rPr>
              <a:t>p</a:t>
            </a:r>
            <a:r>
              <a:rPr lang="en-US" dirty="0" err="1" smtClean="0"/>
              <a:t>.note:</a:t>
            </a:r>
            <a:r>
              <a:rPr lang="en-US" dirty="0" err="1" smtClean="0">
                <a:solidFill>
                  <a:srgbClr val="00B050"/>
                </a:solidFill>
              </a:rPr>
              <a:t>first</a:t>
            </a:r>
            <a:r>
              <a:rPr lang="en-US" dirty="0" smtClean="0">
                <a:solidFill>
                  <a:srgbClr val="00B050"/>
                </a:solidFill>
              </a:rPr>
              <a:t>-line</a:t>
            </a:r>
            <a:r>
              <a:rPr lang="en-US" dirty="0" smtClean="0"/>
              <a:t> {</a:t>
            </a:r>
          </a:p>
          <a:p>
            <a:pPr>
              <a:buNone/>
            </a:pPr>
            <a:r>
              <a:rPr lang="en-US" dirty="0" smtClean="0"/>
              <a:t>	font-weight: </a:t>
            </a:r>
            <a:r>
              <a:rPr lang="en-US" dirty="0" smtClean="0">
                <a:solidFill>
                  <a:srgbClr val="0070C0"/>
                </a:solidFill>
              </a:rPr>
              <a:t>bold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}		 </a:t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vi-VN" dirty="0" smtClean="0"/>
              <a:t/>
            </a:r>
            <a:br>
              <a:rPr lang="vi-VN" dirty="0" smtClean="0"/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err="1" smtClean="0"/>
              <a:t>Rezultat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5" name="Picture 4" descr="0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77184" y="2209800"/>
            <a:ext cx="435462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Pseudo-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clase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i="1" dirty="0" smtClean="0">
                <a:latin typeface="Calibri" pitchFamily="34" charset="0"/>
                <a:cs typeface="Calibri" pitchFamily="34" charset="0"/>
              </a:rPr>
              <a:t>s</a:t>
            </a:r>
            <a:r>
              <a:rPr lang="vi-VN" i="1" dirty="0" smtClean="0">
                <a:latin typeface="Calibri" pitchFamily="34" charset="0"/>
                <a:cs typeface="Calibri" pitchFamily="34" charset="0"/>
              </a:rPr>
              <a:t>e comportă ca o valoare suplimentară pentru un atribut de clasă.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style.css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a</a:t>
            </a:r>
            <a:r>
              <a:rPr lang="en-US" dirty="0" smtClean="0"/>
              <a:t>:</a:t>
            </a:r>
            <a:r>
              <a:rPr lang="en-US" dirty="0" smtClean="0">
                <a:solidFill>
                  <a:srgbClr val="00B050"/>
                </a:solidFill>
              </a:rPr>
              <a:t>link</a:t>
            </a:r>
            <a:r>
              <a:rPr lang="en-US" dirty="0" smtClean="0"/>
              <a:t> {</a:t>
            </a:r>
          </a:p>
          <a:p>
            <a:pPr>
              <a:buNone/>
            </a:pPr>
            <a:r>
              <a:rPr lang="en-US" dirty="0" smtClean="0"/>
              <a:t>	color: </a:t>
            </a:r>
            <a:r>
              <a:rPr lang="en-US" dirty="0" err="1" smtClean="0">
                <a:solidFill>
                  <a:srgbClr val="7030A0"/>
                </a:solidFill>
              </a:rPr>
              <a:t>deeppink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}</a:t>
            </a: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a</a:t>
            </a:r>
            <a:r>
              <a:rPr lang="en-US" dirty="0" smtClean="0"/>
              <a:t>:</a:t>
            </a:r>
            <a:r>
              <a:rPr lang="en-US" dirty="0" smtClean="0">
                <a:solidFill>
                  <a:srgbClr val="00B050"/>
                </a:solidFill>
              </a:rPr>
              <a:t>visited</a:t>
            </a:r>
            <a:r>
              <a:rPr lang="en-US" dirty="0" smtClean="0"/>
              <a:t> {</a:t>
            </a:r>
          </a:p>
          <a:p>
            <a:pPr>
              <a:buNone/>
            </a:pPr>
            <a:r>
              <a:rPr lang="en-US" dirty="0" smtClean="0"/>
              <a:t>	color: </a:t>
            </a:r>
            <a:r>
              <a:rPr lang="en-US" dirty="0" smtClean="0">
                <a:solidFill>
                  <a:srgbClr val="7030A0"/>
                </a:solidFill>
              </a:rPr>
              <a:t>silver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}</a:t>
            </a: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a</a:t>
            </a:r>
            <a:r>
              <a:rPr lang="en-US" dirty="0" smtClean="0"/>
              <a:t>:</a:t>
            </a:r>
            <a:r>
              <a:rPr lang="en-US" dirty="0" smtClean="0">
                <a:solidFill>
                  <a:srgbClr val="00B050"/>
                </a:solidFill>
              </a:rPr>
              <a:t>hover</a:t>
            </a:r>
            <a:r>
              <a:rPr lang="en-US" dirty="0" smtClean="0"/>
              <a:t> {</a:t>
            </a:r>
          </a:p>
          <a:p>
            <a:pPr>
              <a:buNone/>
            </a:pPr>
            <a:r>
              <a:rPr lang="en-US" dirty="0" smtClean="0"/>
              <a:t>	background-color: </a:t>
            </a:r>
            <a:r>
              <a:rPr lang="en-US" dirty="0" smtClean="0">
                <a:solidFill>
                  <a:srgbClr val="7030A0"/>
                </a:solidFill>
              </a:rPr>
              <a:t>yellow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}</a:t>
            </a: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a</a:t>
            </a:r>
            <a:r>
              <a:rPr lang="en-US" dirty="0" smtClean="0"/>
              <a:t>:</a:t>
            </a:r>
            <a:r>
              <a:rPr lang="en-US" dirty="0" smtClean="0">
                <a:solidFill>
                  <a:srgbClr val="00B050"/>
                </a:solidFill>
              </a:rPr>
              <a:t>active</a:t>
            </a:r>
            <a:r>
              <a:rPr lang="en-US" dirty="0" smtClean="0"/>
              <a:t> {</a:t>
            </a:r>
          </a:p>
          <a:p>
            <a:pPr>
              <a:buNone/>
            </a:pPr>
            <a:r>
              <a:rPr lang="en-US" dirty="0" smtClean="0"/>
              <a:t>	color: </a:t>
            </a:r>
            <a:r>
              <a:rPr lang="en-US" dirty="0" err="1" smtClean="0">
                <a:solidFill>
                  <a:srgbClr val="7030A0"/>
                </a:solidFill>
              </a:rPr>
              <a:t>darkcyan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} </a:t>
            </a:r>
            <a:r>
              <a:rPr lang="vi-VN" dirty="0" smtClean="0"/>
              <a:t/>
            </a:r>
            <a:br>
              <a:rPr lang="vi-VN" dirty="0" smtClean="0"/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dirty="0" err="1" smtClean="0"/>
              <a:t>Rezultat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6" name="Picture 5" descr="0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48200" y="2171700"/>
            <a:ext cx="4352925" cy="2781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Pseudo-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clase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vi-VN" i="1" dirty="0" smtClean="0">
                <a:latin typeface="Calibri" pitchFamily="34" charset="0"/>
                <a:cs typeface="Calibri" pitchFamily="34" charset="0"/>
              </a:rPr>
              <a:t>Pseudo clasele care permit modificarea aspectul unui element atunci când un utilizator interacționează cu acesta: </a:t>
            </a:r>
            <a:r>
              <a:rPr lang="vi-VN" b="1" i="1" dirty="0" smtClean="0">
                <a:latin typeface="Calibri" pitchFamily="34" charset="0"/>
                <a:cs typeface="Calibri" pitchFamily="34" charset="0"/>
              </a:rPr>
              <a:t>:hover</a:t>
            </a:r>
            <a:r>
              <a:rPr lang="vi-VN" i="1" dirty="0" smtClean="0">
                <a:latin typeface="Calibri" pitchFamily="34" charset="0"/>
                <a:cs typeface="Calibri" pitchFamily="34" charset="0"/>
              </a:rPr>
              <a:t>, </a:t>
            </a:r>
            <a:r>
              <a:rPr lang="vi-VN" b="1" i="1" dirty="0" smtClean="0">
                <a:latin typeface="Calibri" pitchFamily="34" charset="0"/>
                <a:cs typeface="Calibri" pitchFamily="34" charset="0"/>
              </a:rPr>
              <a:t>:active</a:t>
            </a:r>
            <a:r>
              <a:rPr lang="vi-VN" i="1" dirty="0" smtClean="0">
                <a:latin typeface="Calibri" pitchFamily="34" charset="0"/>
                <a:cs typeface="Calibri" pitchFamily="34" charset="0"/>
              </a:rPr>
              <a:t> și </a:t>
            </a:r>
            <a:r>
              <a:rPr lang="vi-VN" b="1" i="1" dirty="0" smtClean="0">
                <a:latin typeface="Calibri" pitchFamily="34" charset="0"/>
                <a:cs typeface="Calibri" pitchFamily="34" charset="0"/>
              </a:rPr>
              <a:t>:focus</a:t>
            </a:r>
            <a:r>
              <a:rPr lang="vi-VN" i="1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style.css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input</a:t>
            </a:r>
            <a:r>
              <a:rPr lang="en-US" dirty="0" smtClean="0"/>
              <a:t> {</a:t>
            </a:r>
          </a:p>
          <a:p>
            <a:pPr>
              <a:buNone/>
            </a:pPr>
            <a:r>
              <a:rPr lang="en-US" dirty="0" smtClean="0"/>
              <a:t>	padding: </a:t>
            </a:r>
            <a:r>
              <a:rPr lang="en-US" dirty="0" smtClean="0">
                <a:solidFill>
                  <a:srgbClr val="92D050"/>
                </a:solidFill>
              </a:rPr>
              <a:t>6px 12px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border: </a:t>
            </a:r>
            <a:r>
              <a:rPr lang="en-US" dirty="0" smtClean="0">
                <a:solidFill>
                  <a:srgbClr val="92D050"/>
                </a:solidFill>
              </a:rPr>
              <a:t>1px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 smtClean="0">
                <a:solidFill>
                  <a:srgbClr val="0070C0"/>
                </a:solidFill>
              </a:rPr>
              <a:t>solid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7030A0"/>
                </a:solidFill>
              </a:rPr>
              <a:t>orange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color: </a:t>
            </a:r>
            <a:r>
              <a:rPr lang="en-US" dirty="0" smtClean="0">
                <a:solidFill>
                  <a:srgbClr val="0070C0"/>
                </a:solidFill>
              </a:rPr>
              <a:t>#</a:t>
            </a:r>
            <a:r>
              <a:rPr lang="en-US" dirty="0" err="1" smtClean="0">
                <a:solidFill>
                  <a:srgbClr val="0070C0"/>
                </a:solidFill>
              </a:rPr>
              <a:t>fff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}</a:t>
            </a:r>
          </a:p>
          <a:p>
            <a:pPr>
              <a:buNone/>
            </a:pPr>
            <a:r>
              <a:rPr lang="en-US" dirty="0" err="1" smtClean="0">
                <a:solidFill>
                  <a:srgbClr val="00B050"/>
                </a:solidFill>
              </a:rPr>
              <a:t>input</a:t>
            </a:r>
            <a:r>
              <a:rPr lang="en-US" dirty="0" err="1" smtClean="0"/>
              <a:t>.text:</a:t>
            </a:r>
            <a:r>
              <a:rPr lang="en-US" dirty="0" err="1" smtClean="0">
                <a:solidFill>
                  <a:srgbClr val="00B050"/>
                </a:solidFill>
              </a:rPr>
              <a:t>focus</a:t>
            </a:r>
            <a:r>
              <a:rPr lang="en-US" dirty="0" smtClean="0"/>
              <a:t> {</a:t>
            </a:r>
          </a:p>
          <a:p>
            <a:pPr>
              <a:buNone/>
            </a:pPr>
            <a:r>
              <a:rPr lang="en-US" dirty="0" smtClean="0"/>
              <a:t>	color: </a:t>
            </a:r>
            <a:r>
              <a:rPr lang="en-US" dirty="0" smtClean="0">
                <a:solidFill>
                  <a:srgbClr val="7030A0"/>
                </a:solidFill>
              </a:rPr>
              <a:t>orange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}</a:t>
            </a:r>
            <a:r>
              <a:rPr lang="en-US" dirty="0" smtClean="0">
                <a:solidFill>
                  <a:srgbClr val="00B050"/>
                </a:solidFill>
              </a:rPr>
              <a:t>		 </a:t>
            </a:r>
            <a:r>
              <a:rPr lang="vi-VN" dirty="0" smtClean="0"/>
              <a:t/>
            </a:r>
            <a:br>
              <a:rPr lang="vi-VN" dirty="0" smtClean="0"/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 err="1" smtClean="0"/>
              <a:t>Rezultat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7" name="Picture 6" descr="03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0" y="2057400"/>
            <a:ext cx="4343400" cy="27622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Cascadarea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11430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vi-VN" i="1" dirty="0" smtClean="0">
                <a:latin typeface="Calibri" pitchFamily="34" charset="0"/>
                <a:cs typeface="Calibri" pitchFamily="34" charset="0"/>
              </a:rPr>
              <a:t>Cascada CSS atribuie o greutate fiecărei reguli de stil. Dacă se aplică mai multe reguli, regula cu cea mai mare greutate are prioritate.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5" name="Picture 4" descr="CSS-cascad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19200" y="2438400"/>
            <a:ext cx="6667500" cy="3771900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381000" y="6400800"/>
            <a:ext cx="8229600" cy="30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lvl="0" indent="-342900" algn="ctr">
              <a:spcBef>
                <a:spcPct val="20000"/>
              </a:spcBef>
            </a:pPr>
            <a:r>
              <a:rPr lang="en-US" sz="1200" dirty="0" smtClean="0">
                <a:hlinkClick r:id="rId3"/>
              </a:rPr>
              <a:t>Web Style Guide</a:t>
            </a:r>
            <a:r>
              <a:rPr lang="en-US" sz="1200" dirty="0" smtClean="0"/>
              <a:t>, 3rd Edition, by Patrick J. Lynch and Sarah Horton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cs typeface="Calibri" pitchFamily="34" charset="0"/>
              </a:rPr>
              <a:t>Cum se cascadează regulile CSS?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vi-VN" b="1" dirty="0" smtClean="0"/>
              <a:t>Ultima regulă:</a:t>
            </a:r>
            <a:r>
              <a:rPr lang="vi-VN" dirty="0" smtClean="0"/>
              <a:t> dacă doi selectori sunt identici, ultimul dintre ei are prioritate.</a:t>
            </a:r>
            <a:endParaRPr lang="en-US" dirty="0" smtClean="0"/>
          </a:p>
          <a:p>
            <a:endParaRPr lang="vi-VN" dirty="0" smtClean="0"/>
          </a:p>
          <a:p>
            <a:r>
              <a:rPr lang="vi-VN" b="1" dirty="0" smtClean="0"/>
              <a:t>Specificitate:</a:t>
            </a:r>
            <a:r>
              <a:rPr lang="vi-VN" dirty="0" smtClean="0"/>
              <a:t> regula mai specifică are prioritate față de cele mai generale.</a:t>
            </a:r>
            <a:endParaRPr lang="en-US" dirty="0" smtClean="0"/>
          </a:p>
          <a:p>
            <a:endParaRPr lang="vi-VN" dirty="0" smtClean="0"/>
          </a:p>
          <a:p>
            <a:r>
              <a:rPr lang="vi-VN" b="1" dirty="0" smtClean="0"/>
              <a:t>!important:</a:t>
            </a:r>
            <a:r>
              <a:rPr lang="vi-VN" dirty="0" smtClean="0"/>
              <a:t> </a:t>
            </a:r>
            <a:r>
              <a:rPr lang="vi-VN" b="1" dirty="0" smtClean="0"/>
              <a:t>!important</a:t>
            </a:r>
            <a:r>
              <a:rPr lang="vi-VN" dirty="0" smtClean="0"/>
              <a:t> adăugat după o proprietate, indică faptul că este mai importantă decât alte reguli care se aplică aceluiași element.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Cum se cascadează regulile CSS? Exemple.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0386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>
                <a:latin typeface="Calibri" pitchFamily="34" charset="0"/>
                <a:cs typeface="Calibri" pitchFamily="34" charset="0"/>
              </a:rPr>
              <a:t>index.html</a:t>
            </a:r>
          </a:p>
          <a:p>
            <a:pPr>
              <a:buNone/>
            </a:pP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vi-VN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&lt;p </a:t>
            </a:r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id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=</a:t>
            </a:r>
            <a:r>
              <a:rPr lang="vi-VN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"intro"</a:t>
            </a:r>
            <a:r>
              <a:rPr lang="vi-VN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&gt;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Ce &lt;strong&gt;regulă&lt;/strong&gt; are prioritate atunci când două sau mai multe </a:t>
            </a:r>
            <a:r>
              <a:rPr lang="vi-VN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&lt;em&gt;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reguli</a:t>
            </a:r>
            <a:r>
              <a:rPr lang="vi-VN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&lt;/em&gt;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se aplică aceluiași element?</a:t>
            </a:r>
            <a:r>
              <a:rPr lang="vi-VN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&lt;/p&gt;</a:t>
            </a:r>
          </a:p>
          <a:p>
            <a:pPr>
              <a:buNone/>
            </a:pPr>
            <a:r>
              <a:rPr lang="vi-VN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&lt;p&gt;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Dacă înțelegeți asta, puteți scrie mai ușor CSS.</a:t>
            </a:r>
            <a:r>
              <a:rPr lang="vi-VN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&lt;/p&gt;</a:t>
            </a:r>
            <a:endParaRPr lang="en-US" dirty="0" smtClean="0">
              <a:solidFill>
                <a:srgbClr val="00B050"/>
              </a:solidFill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dirty="0" err="1" smtClean="0">
                <a:latin typeface="Calibri" pitchFamily="34" charset="0"/>
                <a:cs typeface="Calibri" pitchFamily="34" charset="0"/>
              </a:rPr>
              <a:t>Rezultat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: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						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36576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>
                <a:latin typeface="Calibri" pitchFamily="34" charset="0"/>
                <a:cs typeface="Calibri" pitchFamily="34" charset="0"/>
              </a:rPr>
              <a:t>style.css</a:t>
            </a:r>
          </a:p>
          <a:p>
            <a:pPr>
              <a:buNone/>
            </a:pP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strong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{ color: </a:t>
            </a:r>
            <a:r>
              <a:rPr lang="en-US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green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; }</a:t>
            </a: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strong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 { color: </a:t>
            </a:r>
            <a:r>
              <a:rPr lang="en-US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red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; }</a:t>
            </a:r>
          </a:p>
          <a:p>
            <a:pPr>
              <a:buNone/>
            </a:pPr>
            <a:r>
              <a:rPr lang="en-US" dirty="0" err="1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em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 { color: </a:t>
            </a:r>
            <a:r>
              <a:rPr lang="en-US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pink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; }</a:t>
            </a: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p </a:t>
            </a:r>
            <a:r>
              <a:rPr lang="en-US" dirty="0" err="1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em</a:t>
            </a:r>
            <a:r>
              <a:rPr lang="en-US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{ color: </a:t>
            </a:r>
            <a:r>
              <a:rPr lang="en-US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blue !important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; }</a:t>
            </a: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p </a:t>
            </a:r>
            <a:r>
              <a:rPr lang="en-US" dirty="0" err="1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em</a:t>
            </a:r>
            <a:r>
              <a:rPr lang="en-US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{ color: </a:t>
            </a:r>
            <a:r>
              <a:rPr lang="en-US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violet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; }</a:t>
            </a:r>
          </a:p>
          <a:p>
            <a:pPr>
              <a:buNone/>
            </a:pPr>
            <a:r>
              <a:rPr lang="en-US" dirty="0" err="1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p</a:t>
            </a:r>
            <a:r>
              <a:rPr lang="en-US" dirty="0" err="1" smtClean="0">
                <a:latin typeface="Calibri" pitchFamily="34" charset="0"/>
                <a:cs typeface="Calibri" pitchFamily="34" charset="0"/>
              </a:rPr>
              <a:t>#</a:t>
            </a:r>
            <a:r>
              <a:rPr lang="en-US" dirty="0" err="1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intro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 { font-size: </a:t>
            </a:r>
            <a:r>
              <a:rPr lang="en-US" dirty="0" smtClean="0">
                <a:solidFill>
                  <a:srgbClr val="92D050"/>
                </a:solidFill>
                <a:latin typeface="Calibri" pitchFamily="34" charset="0"/>
                <a:cs typeface="Calibri" pitchFamily="34" charset="0"/>
              </a:rPr>
              <a:t>.75em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; }</a:t>
            </a:r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p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 { font-size: </a:t>
            </a:r>
            <a:r>
              <a:rPr lang="en-US" dirty="0" smtClean="0">
                <a:solidFill>
                  <a:srgbClr val="92D050"/>
                </a:solidFill>
                <a:latin typeface="Calibri" pitchFamily="34" charset="0"/>
                <a:cs typeface="Calibri" pitchFamily="34" charset="0"/>
              </a:rPr>
              <a:t>1em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; }</a:t>
            </a:r>
          </a:p>
        </p:txBody>
      </p:sp>
      <p:pic>
        <p:nvPicPr>
          <p:cNvPr id="6" name="Picture 5" descr="0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0" y="5410200"/>
            <a:ext cx="8442158" cy="101199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Moștenire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(Inheritance)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 smtClean="0">
                <a:latin typeface="Calibri" pitchFamily="34" charset="0"/>
                <a:cs typeface="Calibri" pitchFamily="34" charset="0"/>
              </a:rPr>
              <a:t>index.html</a:t>
            </a:r>
          </a:p>
          <a:p>
            <a:pPr>
              <a:buNone/>
            </a:pP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vi-VN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&lt;</a:t>
            </a:r>
            <a:r>
              <a:rPr lang="vi-VN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div </a:t>
            </a:r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class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="page"</a:t>
            </a:r>
            <a:r>
              <a:rPr lang="vi-VN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&gt;</a:t>
            </a:r>
          </a:p>
          <a:p>
            <a:pPr>
              <a:buNone/>
            </a:pPr>
            <a:r>
              <a:rPr lang="en-US" dirty="0" smtClean="0">
                <a:latin typeface="Calibri" pitchFamily="34" charset="0"/>
                <a:cs typeface="Calibri" pitchFamily="34" charset="0"/>
              </a:rPr>
              <a:t>	</a:t>
            </a:r>
            <a:r>
              <a:rPr lang="vi-VN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&lt;</a:t>
            </a:r>
            <a:r>
              <a:rPr lang="vi-VN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p&gt;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Dacă proprietățile ...</a:t>
            </a:r>
            <a:r>
              <a:rPr lang="vi-VN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&lt;/p&gt;</a:t>
            </a:r>
          </a:p>
          <a:p>
            <a:pPr>
              <a:buNone/>
            </a:pPr>
            <a:r>
              <a:rPr lang="en-US" dirty="0" smtClean="0">
                <a:latin typeface="Calibri" pitchFamily="34" charset="0"/>
                <a:cs typeface="Calibri" pitchFamily="34" charset="0"/>
              </a:rPr>
              <a:t>	</a:t>
            </a:r>
            <a:r>
              <a:rPr lang="vi-VN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&lt;</a:t>
            </a:r>
            <a:r>
              <a:rPr lang="vi-VN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p&gt;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Cu valoarea "inherit" ...</a:t>
            </a:r>
            <a:r>
              <a:rPr lang="vi-VN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&lt;/p&gt;</a:t>
            </a:r>
          </a:p>
          <a:p>
            <a:pPr>
              <a:buNone/>
            </a:pPr>
            <a:r>
              <a:rPr lang="vi-VN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&lt;/</a:t>
            </a:r>
            <a:r>
              <a:rPr lang="vi-VN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div&gt;</a:t>
            </a:r>
          </a:p>
          <a:p>
            <a:pPr>
              <a:buNone/>
            </a:pPr>
            <a:r>
              <a:rPr lang="vi-VN" dirty="0" smtClean="0">
                <a:latin typeface="Calibri" pitchFamily="34" charset="0"/>
                <a:cs typeface="Calibri" pitchFamily="34" charset="0"/>
              </a:rPr>
              <a:t>					</a:t>
            </a: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dirty="0" err="1" smtClean="0">
                <a:latin typeface="Calibri" pitchFamily="34" charset="0"/>
                <a:cs typeface="Calibri" pitchFamily="34" charset="0"/>
              </a:rPr>
              <a:t>Rezultat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:</a:t>
            </a:r>
          </a:p>
          <a:p>
            <a:pPr>
              <a:buNone/>
            </a:pP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 smtClean="0"/>
              <a:t>s</a:t>
            </a:r>
            <a:r>
              <a:rPr lang="en-US" dirty="0" smtClean="0"/>
              <a:t>tyle.css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body</a:t>
            </a:r>
            <a:r>
              <a:rPr lang="en-US" dirty="0" smtClean="0"/>
              <a:t> {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font-family</a:t>
            </a:r>
            <a:r>
              <a:rPr lang="en-US" dirty="0" smtClean="0"/>
              <a:t>: </a:t>
            </a:r>
            <a:r>
              <a:rPr lang="en-US" dirty="0" err="1" smtClean="0"/>
              <a:t>TimesNewRoman</a:t>
            </a:r>
            <a:r>
              <a:rPr lang="en-US" dirty="0" smtClean="0"/>
              <a:t>, 'Times New Roman', Times, Baskerville, Georgia, </a:t>
            </a:r>
            <a:r>
              <a:rPr lang="en-US" dirty="0" smtClean="0">
                <a:solidFill>
                  <a:srgbClr val="0070C0"/>
                </a:solidFill>
              </a:rPr>
              <a:t>serif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color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0070C0"/>
                </a:solidFill>
              </a:rPr>
              <a:t>#665544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padding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92D050"/>
                </a:solidFill>
              </a:rPr>
              <a:t>10px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}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.</a:t>
            </a:r>
            <a:r>
              <a:rPr lang="en-US" dirty="0" smtClean="0"/>
              <a:t>page {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border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92D050"/>
                </a:solidFill>
              </a:rPr>
              <a:t>1px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70C0"/>
                </a:solidFill>
              </a:rPr>
              <a:t>solid #665544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background-color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0070C0"/>
                </a:solidFill>
              </a:rPr>
              <a:t>#</a:t>
            </a:r>
            <a:r>
              <a:rPr lang="en-US" dirty="0" err="1" smtClean="0">
                <a:solidFill>
                  <a:srgbClr val="0070C0"/>
                </a:solidFill>
              </a:rPr>
              <a:t>efefef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padding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0070C0"/>
                </a:solidFill>
              </a:rPr>
              <a:t>inherit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}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			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81000" y="1143000"/>
            <a:ext cx="8229600" cy="38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r>
              <a:rPr lang="it-IT" sz="2100" i="1" dirty="0" smtClean="0"/>
              <a:t>- anumite proprietăți sunt moștenite de la un element părinte la elementele copilului (ca și genetica</a:t>
            </a:r>
            <a:r>
              <a:rPr lang="it-IT" sz="2100" i="1" dirty="0" smtClean="0"/>
              <a:t>).</a:t>
            </a:r>
            <a:endParaRPr lang="it-IT" sz="2100" i="1" dirty="0" smtClean="0"/>
          </a:p>
        </p:txBody>
      </p:sp>
      <p:pic>
        <p:nvPicPr>
          <p:cNvPr id="6" name="Picture 5" descr="05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4419600"/>
            <a:ext cx="4048125" cy="13525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cs typeface="Calibri" pitchFamily="34" charset="0"/>
              </a:rPr>
              <a:t>De ce este utilă moștenirea</a:t>
            </a:r>
            <a:r>
              <a:rPr lang="vi-VN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cs typeface="Calibri" pitchFamily="34" charset="0"/>
              </a:rPr>
              <a:t>?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vi-VN" i="1" dirty="0" smtClean="0">
                <a:latin typeface="Calibri" pitchFamily="34" charset="0"/>
                <a:cs typeface="Calibri" pitchFamily="34" charset="0"/>
              </a:rPr>
              <a:t>În caz contrar, regulile CSS ar fi </a:t>
            </a:r>
            <a:r>
              <a:rPr lang="vi-VN" b="1" i="1" dirty="0" smtClean="0">
                <a:latin typeface="Calibri" pitchFamily="34" charset="0"/>
                <a:cs typeface="Calibri" pitchFamily="34" charset="0"/>
              </a:rPr>
              <a:t>redundante</a:t>
            </a:r>
            <a:r>
              <a:rPr lang="vi-VN" i="1" dirty="0" smtClean="0">
                <a:latin typeface="Calibri" pitchFamily="34" charset="0"/>
                <a:cs typeface="Calibri" pitchFamily="34" charset="0"/>
              </a:rPr>
              <a:t>. Fără moștenire, ar trebui să fie setate individual stiluri precum font-family, font-size și color - pentru fiecare tip de element</a:t>
            </a:r>
            <a:r>
              <a:rPr lang="vi-VN" i="1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i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vi-VN" i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vi-VN" i="1" dirty="0" smtClean="0">
                <a:latin typeface="Calibri" pitchFamily="34" charset="0"/>
                <a:cs typeface="Calibri" pitchFamily="34" charset="0"/>
              </a:rPr>
              <a:t>Există proprietăți care </a:t>
            </a:r>
            <a:r>
              <a:rPr lang="vi-VN" b="1" i="1" dirty="0" smtClean="0">
                <a:latin typeface="Calibri" pitchFamily="34" charset="0"/>
                <a:cs typeface="Calibri" pitchFamily="34" charset="0"/>
              </a:rPr>
              <a:t>nu sunt moștenite</a:t>
            </a:r>
            <a:r>
              <a:rPr lang="vi-VN" i="1" dirty="0" smtClean="0">
                <a:latin typeface="Calibri" pitchFamily="34" charset="0"/>
                <a:cs typeface="Calibri" pitchFamily="34" charset="0"/>
              </a:rPr>
              <a:t>! De exemplu: background sau border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Painting.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CSS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Box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model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Content Placeholder 4" descr="css-box-model.pn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2300148"/>
            <a:ext cx="4038600" cy="3126067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 smtClean="0">
                <a:solidFill>
                  <a:srgbClr val="0070C0"/>
                </a:solidFill>
              </a:rPr>
              <a:t>#menu </a:t>
            </a: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margin</a:t>
            </a:r>
            <a:r>
              <a:rPr lang="en-US" dirty="0" smtClean="0"/>
              <a:t>:</a:t>
            </a:r>
            <a:r>
              <a:rPr lang="en-US" dirty="0" smtClean="0">
                <a:solidFill>
                  <a:srgbClr val="92D050"/>
                </a:solidFill>
              </a:rPr>
              <a:t> 12px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padding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92D050"/>
                </a:solidFill>
              </a:rPr>
              <a:t>2px 3px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border-bottom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92D050"/>
                </a:solidFill>
              </a:rPr>
              <a:t>1px </a:t>
            </a:r>
            <a:r>
              <a:rPr lang="en-US" dirty="0" smtClean="0">
                <a:solidFill>
                  <a:srgbClr val="0070C0"/>
                </a:solidFill>
              </a:rPr>
              <a:t>solid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7030A0"/>
                </a:solidFill>
              </a:rPr>
              <a:t>blue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}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.</a:t>
            </a:r>
            <a:r>
              <a:rPr lang="en-US" dirty="0" err="1" smtClean="0"/>
              <a:t>modell</a:t>
            </a: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margin</a:t>
            </a:r>
            <a:r>
              <a:rPr lang="en-US" dirty="0" smtClean="0"/>
              <a:t>:</a:t>
            </a:r>
            <a:r>
              <a:rPr lang="en-US" dirty="0" smtClean="0">
                <a:solidFill>
                  <a:srgbClr val="92D050"/>
                </a:solidFill>
              </a:rPr>
              <a:t> 4px 105px 16px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padding-left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92D050"/>
                </a:solidFill>
              </a:rPr>
              <a:t>50px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border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92D050"/>
                </a:solidFill>
              </a:rPr>
              <a:t>1px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70C0"/>
                </a:solidFill>
              </a:rPr>
              <a:t>solid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7030A0"/>
                </a:solidFill>
              </a:rPr>
              <a:t>red</a:t>
            </a:r>
            <a:r>
              <a:rPr lang="en-US" dirty="0" smtClean="0"/>
              <a:t>;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}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28600" y="5715000"/>
            <a:ext cx="8229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1200" dirty="0" smtClean="0">
                <a:hlinkClick r:id="rId3"/>
              </a:rPr>
              <a:t>How browsers work. </a:t>
            </a:r>
            <a:r>
              <a:rPr lang="en-US" sz="1200" dirty="0" err="1" smtClean="0">
                <a:hlinkClick r:id="rId3"/>
              </a:rPr>
              <a:t>CSS</a:t>
            </a:r>
            <a:r>
              <a:rPr lang="en-US" sz="1200" dirty="0" smtClean="0">
                <a:hlinkClick r:id="rId3"/>
              </a:rPr>
              <a:t> Box model</a:t>
            </a:r>
            <a:r>
              <a:rPr lang="en-US" sz="1200" dirty="0" smtClean="0"/>
              <a:t>; </a:t>
            </a:r>
            <a:r>
              <a:rPr lang="en-US" sz="1200" dirty="0" smtClean="0">
                <a:hlinkClick r:id="rId4"/>
              </a:rPr>
              <a:t>Box model - W3C Recommendation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Painting.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CSS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display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81000" y="6096000"/>
            <a:ext cx="8229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1300" dirty="0" smtClean="0">
                <a:hlinkClick r:id="rId2"/>
              </a:rPr>
              <a:t>How </a:t>
            </a:r>
            <a:r>
              <a:rPr lang="en-US" sz="1300" dirty="0" smtClean="0">
                <a:hlinkClick r:id="rId2"/>
              </a:rPr>
              <a:t>browsers work. </a:t>
            </a:r>
            <a:r>
              <a:rPr lang="en-US" sz="1300" dirty="0" err="1" smtClean="0">
                <a:hlinkClick r:id="rId2"/>
              </a:rPr>
              <a:t>CSS</a:t>
            </a:r>
            <a:r>
              <a:rPr lang="en-US" sz="1300" dirty="0" smtClean="0">
                <a:hlinkClick r:id="rId2"/>
              </a:rPr>
              <a:t> display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 descr="css_display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3400" y="1905000"/>
            <a:ext cx="3333750" cy="3086100"/>
          </a:xfrm>
          <a:prstGeom prst="rect">
            <a:avLst/>
          </a:prstGeom>
        </p:spPr>
      </p:pic>
      <p:pic>
        <p:nvPicPr>
          <p:cNvPr id="9" name="Picture 8" descr="css_display_lines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343400" y="2057400"/>
            <a:ext cx="3810000" cy="26384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Painting.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CSS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Positioning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static</a:t>
            </a:r>
          </a:p>
          <a:p>
            <a:r>
              <a:rPr lang="en-US" dirty="0" smtClean="0"/>
              <a:t>relative</a:t>
            </a:r>
          </a:p>
          <a:p>
            <a:r>
              <a:rPr lang="en-US" dirty="0" smtClean="0"/>
              <a:t>absolute</a:t>
            </a:r>
          </a:p>
          <a:p>
            <a:r>
              <a:rPr lang="en-US" dirty="0" smtClean="0"/>
              <a:t>fixed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z-index</a:t>
            </a:r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pPr algn="ctr">
              <a:buNone/>
            </a:pPr>
            <a:r>
              <a:rPr lang="en-US" sz="1300" dirty="0" smtClean="0">
                <a:hlinkClick r:id="rId2"/>
              </a:rPr>
              <a:t>Understanding </a:t>
            </a:r>
            <a:r>
              <a:rPr lang="en-US" sz="1300" dirty="0" err="1" smtClean="0">
                <a:hlinkClick r:id="rId2"/>
              </a:rPr>
              <a:t>CSS</a:t>
            </a:r>
            <a:r>
              <a:rPr lang="en-US" sz="1300" dirty="0" smtClean="0">
                <a:hlinkClick r:id="rId2"/>
              </a:rPr>
              <a:t> Positioning Part 1</a:t>
            </a:r>
            <a:r>
              <a:rPr lang="en-US" sz="1300" dirty="0" smtClean="0"/>
              <a:t> by </a:t>
            </a:r>
            <a:r>
              <a:rPr lang="en-US" sz="1300" dirty="0" err="1" smtClean="0"/>
              <a:t>Kilian</a:t>
            </a:r>
            <a:r>
              <a:rPr lang="en-US" sz="1300" dirty="0" smtClean="0"/>
              <a:t> </a:t>
            </a:r>
            <a:r>
              <a:rPr lang="en-US" sz="1300" dirty="0" err="1" smtClean="0"/>
              <a:t>Valkhof</a:t>
            </a:r>
            <a:r>
              <a:rPr lang="en-US" sz="1300" dirty="0" smtClean="0"/>
              <a:t>;   </a:t>
            </a:r>
            <a:r>
              <a:rPr lang="en-US" sz="1300" dirty="0" err="1" smtClean="0">
                <a:hlinkClick r:id="rId3"/>
              </a:rPr>
              <a:t>CSS</a:t>
            </a:r>
            <a:r>
              <a:rPr lang="en-US" sz="1300" dirty="0" smtClean="0">
                <a:hlinkClick r:id="rId3"/>
              </a:rPr>
              <a:t> Positioning</a:t>
            </a:r>
            <a:r>
              <a:rPr lang="en-US" sz="1300" dirty="0" smtClean="0"/>
              <a:t> on w3schools.com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4600"/>
            <a:ext cx="8229600" cy="1935162"/>
          </a:xfrm>
        </p:spPr>
        <p:txBody>
          <a:bodyPr>
            <a:noAutofit/>
          </a:bodyPr>
          <a:lstStyle/>
          <a:p>
            <a:r>
              <a:rPr lang="en-US" sz="9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Culori</a:t>
            </a:r>
            <a:endParaRPr lang="en-US" sz="9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Culori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 dirty="0" smtClean="0">
                <a:latin typeface="Calibri" pitchFamily="34" charset="0"/>
                <a:cs typeface="Calibri" pitchFamily="34" charset="0"/>
              </a:rPr>
              <a:t>Contrast.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Semnificația culorii</a:t>
            </a: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dirty="0" smtClean="0">
                <a:latin typeface="Calibri" pitchFamily="34" charset="0"/>
                <a:cs typeface="Calibri" pitchFamily="34" charset="0"/>
              </a:rPr>
              <a:t>Sisteme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de culori: 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RGB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 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&amp;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C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MYK</a:t>
            </a: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dirty="0" smtClean="0">
                <a:latin typeface="Calibri" pitchFamily="34" charset="0"/>
                <a:cs typeface="Calibri" pitchFamily="34" charset="0"/>
              </a:rPr>
              <a:t>Jargonul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: 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Hue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, 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Saturation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, 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BrightnessRoata de culori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: culori primare, culori secundare, culori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terțiare</a:t>
            </a: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dirty="0" smtClean="0">
                <a:latin typeface="Calibri" pitchFamily="34" charset="0"/>
                <a:cs typeface="Calibri" pitchFamily="34" charset="0"/>
              </a:rPr>
              <a:t>Culori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ca: valori RGB, coduri hexazecimale, nume de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culori</a:t>
            </a: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dirty="0" smtClean="0">
                <a:latin typeface="Calibri" pitchFamily="34" charset="0"/>
                <a:cs typeface="Calibri" pitchFamily="34" charset="0"/>
              </a:rPr>
              <a:t>Relația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dintre culori: dinamică &amp; statică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Culori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. De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ce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?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vi-VN" dirty="0" smtClean="0"/>
              <a:t>Culoarea este </a:t>
            </a:r>
            <a:r>
              <a:rPr lang="vi-VN" i="1" dirty="0" smtClean="0"/>
              <a:t>esențială</a:t>
            </a:r>
            <a:r>
              <a:rPr lang="vi-VN" dirty="0" smtClean="0"/>
              <a:t> în designul grafic</a:t>
            </a:r>
            <a:r>
              <a:rPr lang="vi-VN" dirty="0" smtClean="0"/>
              <a:t>.</a:t>
            </a:r>
            <a:endParaRPr lang="en-US" dirty="0" smtClean="0"/>
          </a:p>
          <a:p>
            <a:endParaRPr lang="vi-VN" dirty="0" smtClean="0"/>
          </a:p>
          <a:p>
            <a:r>
              <a:rPr lang="vi-VN" dirty="0" smtClean="0"/>
              <a:t>Culoarea </a:t>
            </a:r>
            <a:r>
              <a:rPr lang="vi-VN" i="1" dirty="0" smtClean="0"/>
              <a:t>influențează starea de spirit</a:t>
            </a:r>
            <a:r>
              <a:rPr lang="vi-VN" dirty="0" smtClean="0"/>
              <a:t> și dă publicului o </a:t>
            </a:r>
            <a:r>
              <a:rPr lang="vi-VN" b="1" dirty="0" smtClean="0"/>
              <a:t>reacție emoțională</a:t>
            </a:r>
            <a:r>
              <a:rPr lang="vi-VN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sz="1300" dirty="0" smtClean="0">
                <a:hlinkClick r:id="rId2" tooltip="Color For Dummies"/>
              </a:rPr>
              <a:t>Color For Dummies</a:t>
            </a:r>
            <a:r>
              <a:rPr lang="en-US" sz="1300" dirty="0" smtClean="0"/>
              <a:t> from </a:t>
            </a:r>
            <a:r>
              <a:rPr lang="en-US" sz="1300" dirty="0" err="1" smtClean="0">
                <a:hlinkClick r:id="rId3"/>
              </a:rPr>
              <a:t>ade</a:t>
            </a:r>
            <a:r>
              <a:rPr lang="en-US" sz="1300" dirty="0" smtClean="0">
                <a:hlinkClick r:id="rId3"/>
              </a:rPr>
              <a:t> </a:t>
            </a:r>
            <a:r>
              <a:rPr lang="en-US" sz="1300" dirty="0" err="1" smtClean="0">
                <a:hlinkClick r:id="rId3"/>
              </a:rPr>
              <a:t>chrisnadhi</a:t>
            </a:r>
            <a:r>
              <a:rPr lang="en-US" sz="1300" dirty="0" smtClean="0"/>
              <a:t> on Dec 16, 2011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289175"/>
          </a:xfrm>
        </p:spPr>
        <p:txBody>
          <a:bodyPr>
            <a:noAutofit/>
          </a:bodyPr>
          <a:lstStyle/>
          <a:p>
            <a:r>
              <a:rPr lang="en-US" sz="15000" b="1" dirty="0" smtClean="0">
                <a:solidFill>
                  <a:srgbClr val="E44699"/>
                </a:solidFill>
                <a:latin typeface="Arial" pitchFamily="34" charset="0"/>
                <a:cs typeface="Arial" pitchFamily="34" charset="0"/>
              </a:rPr>
              <a:t>FEAR</a:t>
            </a:r>
            <a:endParaRPr lang="en-US" sz="15000" b="1" dirty="0">
              <a:solidFill>
                <a:srgbClr val="E44699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289175"/>
          </a:xfrm>
        </p:spPr>
        <p:txBody>
          <a:bodyPr>
            <a:noAutofit/>
          </a:bodyPr>
          <a:lstStyle/>
          <a:p>
            <a:r>
              <a:rPr lang="en-US" sz="150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FEAR</a:t>
            </a:r>
            <a:endParaRPr lang="en-US" sz="15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289175"/>
          </a:xfrm>
        </p:spPr>
        <p:txBody>
          <a:bodyPr>
            <a:noAutofit/>
          </a:bodyPr>
          <a:lstStyle/>
          <a:p>
            <a:r>
              <a:rPr lang="en-US" sz="12000" b="1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34" charset="0"/>
                <a:cs typeface="Arial" pitchFamily="34" charset="0"/>
              </a:rPr>
              <a:t>FOREST</a:t>
            </a:r>
            <a:endParaRPr lang="en-US" sz="12000" b="1" dirty="0">
              <a:solidFill>
                <a:schemeClr val="tx2">
                  <a:lumMod val="40000"/>
                  <a:lumOff val="6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6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289175"/>
          </a:xfrm>
        </p:spPr>
        <p:txBody>
          <a:bodyPr>
            <a:noAutofit/>
          </a:bodyPr>
          <a:lstStyle/>
          <a:p>
            <a:r>
              <a:rPr lang="en-US" sz="12000" b="1" dirty="0" smtClean="0">
                <a:solidFill>
                  <a:srgbClr val="B6FF73"/>
                </a:solidFill>
                <a:latin typeface="Arial" pitchFamily="34" charset="0"/>
                <a:cs typeface="Arial" pitchFamily="34" charset="0"/>
              </a:rPr>
              <a:t>FOREST</a:t>
            </a:r>
            <a:endParaRPr lang="en-US" sz="12000" b="1" dirty="0">
              <a:solidFill>
                <a:srgbClr val="B6FF73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>
                    <a:lumMod val="40000"/>
                    <a:lumOff val="60000"/>
                  </a:schemeClr>
                </a:solidFill>
              </a:rPr>
              <a:t>Contrast</a:t>
            </a:r>
            <a:endParaRPr lang="en-US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2004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vi-VN" sz="2800" dirty="0" smtClean="0"/>
              <a:t>Contrastul este diferența în proprietățile vizuale care </a:t>
            </a:r>
            <a:r>
              <a:rPr lang="vi-VN" sz="2800" b="1" dirty="0" smtClean="0"/>
              <a:t>disting</a:t>
            </a:r>
            <a:r>
              <a:rPr lang="vi-VN" sz="2800" dirty="0" smtClean="0"/>
              <a:t> un obiect de alte obiecte și de fundal.</a:t>
            </a:r>
            <a:endParaRPr lang="en-US" sz="2800" dirty="0"/>
          </a:p>
        </p:txBody>
      </p:sp>
      <p:pic>
        <p:nvPicPr>
          <p:cNvPr id="5" name="Picture 4" descr="Kontras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38600" y="1600200"/>
            <a:ext cx="484178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5334000"/>
          </a:xfrm>
        </p:spPr>
        <p:txBody>
          <a:bodyPr>
            <a:noAutofit/>
          </a:bodyPr>
          <a:lstStyle/>
          <a:p>
            <a:r>
              <a:rPr lang="es-ES" sz="9600" b="1" dirty="0" err="1" smtClean="0">
                <a:solidFill>
                  <a:srgbClr val="18690B"/>
                </a:solidFill>
                <a:latin typeface="+mn-lt"/>
              </a:rPr>
              <a:t>Acesta</a:t>
            </a:r>
            <a:r>
              <a:rPr lang="es-ES" sz="9600" b="1" dirty="0" smtClean="0">
                <a:solidFill>
                  <a:srgbClr val="18690B"/>
                </a:solidFill>
                <a:latin typeface="+mn-lt"/>
              </a:rPr>
              <a:t> este un </a:t>
            </a:r>
            <a:r>
              <a:rPr lang="es-ES" sz="9600" b="1" dirty="0" err="1" smtClean="0">
                <a:solidFill>
                  <a:srgbClr val="18690B"/>
                </a:solidFill>
                <a:latin typeface="+mn-lt"/>
              </a:rPr>
              <a:t>exemplu</a:t>
            </a:r>
            <a:r>
              <a:rPr lang="es-ES" sz="9600" b="1" dirty="0" smtClean="0">
                <a:solidFill>
                  <a:srgbClr val="18690B"/>
                </a:solidFill>
                <a:latin typeface="+mn-lt"/>
              </a:rPr>
              <a:t> </a:t>
            </a:r>
            <a:r>
              <a:rPr lang="es-ES" sz="9600" b="1" dirty="0" err="1" smtClean="0">
                <a:solidFill>
                  <a:srgbClr val="18690B"/>
                </a:solidFill>
                <a:latin typeface="+mn-lt"/>
              </a:rPr>
              <a:t>RĂU</a:t>
            </a:r>
            <a:r>
              <a:rPr lang="es-ES" sz="9600" b="1" dirty="0" smtClean="0">
                <a:solidFill>
                  <a:srgbClr val="18690B"/>
                </a:solidFill>
                <a:latin typeface="+mn-lt"/>
              </a:rPr>
              <a:t>!</a:t>
            </a:r>
            <a:endParaRPr lang="en-US" sz="12000" b="1" dirty="0">
              <a:solidFill>
                <a:srgbClr val="18690B"/>
              </a:solidFill>
              <a:latin typeface="+mn-lt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5334000"/>
          </a:xfrm>
        </p:spPr>
        <p:txBody>
          <a:bodyPr>
            <a:noAutofit/>
          </a:bodyPr>
          <a:lstStyle/>
          <a:p>
            <a:r>
              <a:rPr lang="es-ES" sz="9600" b="1" dirty="0" err="1" smtClean="0">
                <a:solidFill>
                  <a:schemeClr val="bg1"/>
                </a:solidFill>
              </a:rPr>
              <a:t>Acesta</a:t>
            </a:r>
            <a:r>
              <a:rPr lang="es-ES" sz="9600" b="1" dirty="0" smtClean="0">
                <a:solidFill>
                  <a:schemeClr val="bg1"/>
                </a:solidFill>
              </a:rPr>
              <a:t> este un </a:t>
            </a:r>
            <a:r>
              <a:rPr lang="es-ES" sz="9600" b="1" dirty="0" err="1" smtClean="0">
                <a:solidFill>
                  <a:schemeClr val="bg1"/>
                </a:solidFill>
              </a:rPr>
              <a:t>exemplu</a:t>
            </a:r>
            <a:r>
              <a:rPr lang="es-ES" sz="9600" b="1" dirty="0" smtClean="0">
                <a:solidFill>
                  <a:schemeClr val="bg1"/>
                </a:solidFill>
              </a:rPr>
              <a:t> </a:t>
            </a:r>
            <a:r>
              <a:rPr lang="es-ES" sz="9600" b="1" dirty="0" err="1" smtClean="0">
                <a:solidFill>
                  <a:schemeClr val="bg1"/>
                </a:solidFill>
              </a:rPr>
              <a:t>BUN</a:t>
            </a:r>
            <a:r>
              <a:rPr lang="es-ES" sz="9600" b="1" dirty="0" smtClean="0">
                <a:solidFill>
                  <a:schemeClr val="bg1"/>
                </a:solidFill>
              </a:rPr>
              <a:t>!</a:t>
            </a:r>
            <a:endParaRPr lang="en-US" sz="12000" b="1" dirty="0">
              <a:solidFill>
                <a:schemeClr val="bg1"/>
              </a:solidFill>
              <a:latin typeface="+mn-lt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Semnificația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culorii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 descr="0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308051"/>
            <a:ext cx="9144000" cy="509274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Semnificația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culorii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 descr="07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231851"/>
            <a:ext cx="9144000" cy="509274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Sisteme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de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culori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: </a:t>
            </a:r>
            <a:r>
              <a:rPr lang="en-US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RGB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 &amp; </a:t>
            </a:r>
            <a:r>
              <a:rPr lang="en-US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CMYK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53340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err="1" smtClean="0"/>
              <a:t>Aditiv</a:t>
            </a:r>
            <a:r>
              <a:rPr lang="en-US" b="1" dirty="0" smtClean="0"/>
              <a:t> (Additive)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red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 + </a:t>
            </a:r>
            <a:r>
              <a:rPr lang="en-US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green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 + </a:t>
            </a:r>
            <a:r>
              <a:rPr lang="en-US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blue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 = white</a:t>
            </a:r>
            <a:endParaRPr lang="en-US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53340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err="1" smtClean="0"/>
              <a:t>Subtractiv</a:t>
            </a:r>
            <a:r>
              <a:rPr lang="en-US" b="1" dirty="0" smtClean="0"/>
              <a:t> (Subtractive)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E44699"/>
                </a:solidFill>
              </a:rPr>
              <a:t>magenta</a:t>
            </a:r>
            <a:r>
              <a:rPr lang="en-US" dirty="0" smtClean="0"/>
              <a:t> + </a:t>
            </a:r>
            <a:r>
              <a:rPr lang="en-US" dirty="0" smtClean="0">
                <a:solidFill>
                  <a:srgbClr val="FFFF00"/>
                </a:solidFill>
              </a:rPr>
              <a:t>yellow</a:t>
            </a:r>
            <a:r>
              <a:rPr lang="en-US" dirty="0" smtClean="0"/>
              <a:t> + </a:t>
            </a:r>
            <a:r>
              <a:rPr lang="en-US" dirty="0" smtClean="0">
                <a:solidFill>
                  <a:srgbClr val="00B0F0"/>
                </a:solidFill>
              </a:rPr>
              <a:t>cyan</a:t>
            </a:r>
            <a:r>
              <a:rPr lang="en-US" dirty="0" smtClean="0"/>
              <a:t> = black</a:t>
            </a:r>
            <a:endParaRPr lang="en-US" dirty="0"/>
          </a:p>
        </p:txBody>
      </p:sp>
      <p:pic>
        <p:nvPicPr>
          <p:cNvPr id="3" name="Picture 2" descr="RGB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4800" y="1905000"/>
            <a:ext cx="3913557" cy="3733800"/>
          </a:xfrm>
          <a:prstGeom prst="rect">
            <a:avLst/>
          </a:prstGeom>
        </p:spPr>
      </p:pic>
      <p:pic>
        <p:nvPicPr>
          <p:cNvPr id="4" name="Picture 3" descr="CMYK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29858" y="1905000"/>
            <a:ext cx="3956942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Sisteme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de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culori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: </a:t>
            </a:r>
            <a:r>
              <a:rPr lang="en-US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RGB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 &amp; </a:t>
            </a:r>
            <a:r>
              <a:rPr lang="en-US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CMYK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 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vi-VN" b="1" dirty="0" smtClean="0">
                <a:latin typeface="Calibri" pitchFamily="34" charset="0"/>
                <a:cs typeface="Calibri" pitchFamily="34" charset="0"/>
              </a:rPr>
              <a:t>RGB</a:t>
            </a:r>
            <a:endParaRPr lang="en-US" b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dirty="0" smtClean="0">
                <a:latin typeface="Calibri" pitchFamily="34" charset="0"/>
                <a:cs typeface="Calibri" pitchFamily="34" charset="0"/>
              </a:rPr>
              <a:t>	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pentru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a reprezenta culorile în mod electronic prin proiectarea de raze de lumină pe ecrane cum ar fi televizoare sau ecrane de calculator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vi-VN" b="1" dirty="0" smtClean="0">
                <a:latin typeface="Calibri" pitchFamily="34" charset="0"/>
                <a:cs typeface="Calibri" pitchFamily="34" charset="0"/>
              </a:rPr>
              <a:t>CMYK</a:t>
            </a:r>
            <a:endParaRPr lang="en-US" b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dirty="0" smtClean="0">
                <a:latin typeface="Calibri" pitchFamily="34" charset="0"/>
                <a:cs typeface="Calibri" pitchFamily="34" charset="0"/>
              </a:rPr>
              <a:t>	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prezintă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patru culori de bază folosind coloranți (cum ar fi culori, cerneluri sau pigmenți de culoare). Sistemul este utilizat în industria de imprimare și de artiști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Culori</a:t>
            </a:r>
            <a:r>
              <a:rPr lang="en-US" dirty="0" smtClean="0"/>
              <a:t>: </a:t>
            </a:r>
            <a:r>
              <a:rPr lang="en-US" dirty="0" err="1" smtClean="0"/>
              <a:t>Jargonul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86200" cy="4525963"/>
          </a:xfrm>
        </p:spPr>
        <p:txBody>
          <a:bodyPr/>
          <a:lstStyle/>
          <a:p>
            <a:r>
              <a:rPr lang="en-US" sz="2800" b="1" dirty="0" smtClean="0"/>
              <a:t>Hue</a:t>
            </a:r>
          </a:p>
          <a:p>
            <a:pPr>
              <a:buNone/>
            </a:pPr>
            <a:endParaRPr lang="en-US" sz="2800" dirty="0" smtClean="0"/>
          </a:p>
          <a:p>
            <a:r>
              <a:rPr lang="en-US" sz="2800" b="1" dirty="0" smtClean="0"/>
              <a:t>Saturation</a:t>
            </a:r>
            <a:r>
              <a:rPr lang="en-US" sz="2800" dirty="0" smtClean="0"/>
              <a:t> ("</a:t>
            </a:r>
            <a:r>
              <a:rPr lang="en-US" sz="2800" dirty="0" err="1" smtClean="0"/>
              <a:t>chroma</a:t>
            </a:r>
            <a:r>
              <a:rPr lang="en-US" sz="2800" dirty="0" smtClean="0"/>
              <a:t>")</a:t>
            </a:r>
          </a:p>
          <a:p>
            <a:pPr>
              <a:buNone/>
            </a:pPr>
            <a:endParaRPr lang="en-US" sz="2800" dirty="0" smtClean="0"/>
          </a:p>
          <a:p>
            <a:r>
              <a:rPr lang="en-US" sz="2800" b="1" dirty="0" smtClean="0"/>
              <a:t>Brightness</a:t>
            </a:r>
            <a:r>
              <a:rPr lang="en-US" sz="2800" dirty="0" smtClean="0"/>
              <a:t> (</a:t>
            </a:r>
            <a:r>
              <a:rPr lang="en-US" sz="2800" dirty="0" err="1" smtClean="0"/>
              <a:t>Lighiness</a:t>
            </a:r>
            <a:r>
              <a:rPr lang="en-US" sz="2800" dirty="0" smtClean="0"/>
              <a:t>)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 descr="colorJarg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962400" y="914400"/>
            <a:ext cx="4852671" cy="54102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Jargonul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- </a:t>
            </a:r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Hue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81400"/>
            <a:ext cx="8229600" cy="25447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vi-VN" dirty="0" smtClean="0">
                <a:latin typeface="Calibri" pitchFamily="34" charset="0"/>
                <a:cs typeface="Calibri" pitchFamily="34" charset="0"/>
              </a:rPr>
              <a:t>- Numele și proprietățile unei culori care îi permite să fie percepută.</a:t>
            </a:r>
          </a:p>
          <a:p>
            <a:pPr>
              <a:buNone/>
            </a:pP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vi-VN" dirty="0" smtClean="0">
                <a:latin typeface="Calibri" pitchFamily="34" charset="0"/>
                <a:cs typeface="Calibri" pitchFamily="34" charset="0"/>
              </a:rPr>
              <a:t>-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 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culoarea reală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; Percepția culorii umane se bazează numai pe 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4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 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HUE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-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uri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: </a:t>
            </a: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dirty="0" smtClean="0">
                <a:latin typeface="Calibri" pitchFamily="34" charset="0"/>
                <a:cs typeface="Calibri" pitchFamily="34" charset="0"/>
              </a:rPr>
              <a:t>	</a:t>
            </a:r>
            <a:r>
              <a:rPr lang="vi-VN" dirty="0" smtClean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galben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, </a:t>
            </a:r>
            <a:r>
              <a:rPr lang="vi-VN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verde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, </a:t>
            </a:r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albastru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 și </a:t>
            </a:r>
            <a:r>
              <a:rPr lang="vi-VN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roșu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 descr="HS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33600" y="1447800"/>
            <a:ext cx="5133975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Jargonul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- </a:t>
            </a:r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Saturation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81400"/>
            <a:ext cx="8229600" cy="254476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 err="1" smtClean="0">
                <a:latin typeface="Calibri" pitchFamily="34" charset="0"/>
                <a:cs typeface="Calibri" pitchFamily="34" charset="0"/>
              </a:rPr>
              <a:t>nivelul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dirty="0" err="1" smtClean="0">
                <a:latin typeface="Calibri" pitchFamily="34" charset="0"/>
                <a:cs typeface="Calibri" pitchFamily="34" charset="0"/>
              </a:rPr>
              <a:t>și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dirty="0" err="1" smtClean="0">
                <a:latin typeface="Calibri" pitchFamily="34" charset="0"/>
                <a:cs typeface="Calibri" pitchFamily="34" charset="0"/>
              </a:rPr>
              <a:t>amestecul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 de </a:t>
            </a:r>
            <a:r>
              <a:rPr lang="en-US" dirty="0" err="1" smtClean="0">
                <a:latin typeface="Calibri" pitchFamily="34" charset="0"/>
                <a:cs typeface="Calibri" pitchFamily="34" charset="0"/>
              </a:rPr>
              <a:t>culori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 alb, </a:t>
            </a:r>
            <a:r>
              <a:rPr lang="en-US" dirty="0" err="1" smtClean="0">
                <a:latin typeface="Calibri" pitchFamily="34" charset="0"/>
                <a:cs typeface="Calibri" pitchFamily="34" charset="0"/>
              </a:rPr>
              <a:t>negru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, </a:t>
            </a:r>
            <a:r>
              <a:rPr lang="en-US" dirty="0" err="1" smtClean="0">
                <a:latin typeface="Calibri" pitchFamily="34" charset="0"/>
                <a:cs typeface="Calibri" pitchFamily="34" charset="0"/>
              </a:rPr>
              <a:t>gri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 </a:t>
            </a:r>
            <a:r>
              <a:rPr lang="en-US" dirty="0" err="1" smtClean="0">
                <a:latin typeface="Calibri" pitchFamily="34" charset="0"/>
                <a:cs typeface="Calibri" pitchFamily="34" charset="0"/>
              </a:rPr>
              <a:t>și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dirty="0" err="1" smtClean="0">
                <a:latin typeface="Calibri" pitchFamily="34" charset="0"/>
                <a:cs typeface="Calibri" pitchFamily="34" charset="0"/>
              </a:rPr>
              <a:t>culorile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dirty="0" err="1" smtClean="0">
                <a:latin typeface="Calibri" pitchFamily="34" charset="0"/>
                <a:cs typeface="Calibri" pitchFamily="34" charset="0"/>
              </a:rPr>
              <a:t>complementare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dirty="0" err="1" smtClean="0">
                <a:latin typeface="Calibri" pitchFamily="34" charset="0"/>
                <a:cs typeface="Calibri" pitchFamily="34" charset="0"/>
              </a:rPr>
              <a:t>incluse</a:t>
            </a: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dirty="0" smtClean="0">
                <a:latin typeface="Calibri" pitchFamily="34" charset="0"/>
                <a:cs typeface="Calibri" pitchFamily="34" charset="0"/>
              </a:rPr>
              <a:t>-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 </a:t>
            </a:r>
            <a:r>
              <a:rPr lang="en-US" b="1" dirty="0" err="1" smtClean="0">
                <a:latin typeface="Calibri" pitchFamily="34" charset="0"/>
                <a:cs typeface="Calibri" pitchFamily="34" charset="0"/>
              </a:rPr>
              <a:t>cantitatea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, </a:t>
            </a:r>
            <a:r>
              <a:rPr lang="en-US" b="1" dirty="0" err="1" smtClean="0">
                <a:latin typeface="Calibri" pitchFamily="34" charset="0"/>
                <a:cs typeface="Calibri" pitchFamily="34" charset="0"/>
              </a:rPr>
              <a:t>puterea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, </a:t>
            </a:r>
            <a:r>
              <a:rPr lang="en-US" b="1" dirty="0" err="1" smtClean="0">
                <a:latin typeface="Calibri" pitchFamily="34" charset="0"/>
                <a:cs typeface="Calibri" pitchFamily="34" charset="0"/>
              </a:rPr>
              <a:t>puritate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 </a:t>
            </a:r>
            <a:r>
              <a:rPr lang="en-US" dirty="0" err="1" smtClean="0">
                <a:latin typeface="Calibri" pitchFamily="34" charset="0"/>
                <a:cs typeface="Calibri" pitchFamily="34" charset="0"/>
              </a:rPr>
              <a:t>culorii</a:t>
            </a: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 descr="HS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33600" y="1447800"/>
            <a:ext cx="5133975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Jargonul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- </a:t>
            </a:r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Brightness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81400"/>
            <a:ext cx="8229600" cy="25447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vi-VN" dirty="0" smtClean="0">
                <a:latin typeface="Calibri" pitchFamily="34" charset="0"/>
                <a:cs typeface="Calibri" pitchFamily="34" charset="0"/>
              </a:rPr>
              <a:t>- cât de luminoasă sau întunecată este o culoare</a:t>
            </a:r>
          </a:p>
          <a:p>
            <a:pPr>
              <a:buNone/>
            </a:pP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vi-VN" dirty="0" smtClean="0">
                <a:latin typeface="Calibri" pitchFamily="34" charset="0"/>
                <a:cs typeface="Calibri" pitchFamily="34" charset="0"/>
              </a:rPr>
              <a:t>-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o măsurare a cantității de lumină reflectată de o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culoare.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Cu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cât culoarea are mai multă strălucire, cu atât va reflecta mai multă lumină.</a:t>
            </a:r>
          </a:p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 descr="HSB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33600" y="1447800"/>
            <a:ext cx="5133975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Roata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de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culori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(The color wheel)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0" y="1600200"/>
            <a:ext cx="3352800" cy="4525963"/>
          </a:xfrm>
        </p:spPr>
        <p:txBody>
          <a:bodyPr>
            <a:normAutofit/>
          </a:bodyPr>
          <a:lstStyle/>
          <a:p>
            <a:r>
              <a:rPr lang="it-IT" sz="2800" dirty="0" smtClean="0"/>
              <a:t>Culorile primare (primary colors</a:t>
            </a:r>
            <a:r>
              <a:rPr lang="it-IT" sz="2800" dirty="0" smtClean="0"/>
              <a:t>)</a:t>
            </a:r>
          </a:p>
          <a:p>
            <a:endParaRPr lang="it-IT" sz="2800" dirty="0" smtClean="0"/>
          </a:p>
          <a:p>
            <a:r>
              <a:rPr lang="it-IT" sz="2800" dirty="0" smtClean="0"/>
              <a:t>Culori secundare (secondary colors</a:t>
            </a:r>
            <a:r>
              <a:rPr lang="it-IT" sz="2800" dirty="0" smtClean="0"/>
              <a:t>)</a:t>
            </a:r>
          </a:p>
          <a:p>
            <a:pPr>
              <a:buNone/>
            </a:pPr>
            <a:endParaRPr lang="it-IT" sz="2800" dirty="0" smtClean="0"/>
          </a:p>
          <a:p>
            <a:r>
              <a:rPr lang="it-IT" sz="2800" dirty="0" smtClean="0"/>
              <a:t>Culori terțiare (tertiary colors)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4" name="Picture 3" descr="Farbkreis_Itten_196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14400" y="1752600"/>
            <a:ext cx="3238500" cy="3238500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762000" y="5257800"/>
            <a:ext cx="3886200" cy="63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1400" dirty="0" err="1" smtClean="0"/>
              <a:t>Farbkreis</a:t>
            </a:r>
            <a:r>
              <a:rPr lang="en-US" sz="1400" dirty="0" smtClean="0"/>
              <a:t> </a:t>
            </a:r>
            <a:r>
              <a:rPr lang="en-US" sz="1400" dirty="0" smtClean="0"/>
              <a:t>by Johannes </a:t>
            </a:r>
            <a:r>
              <a:rPr lang="en-US" sz="1400" dirty="0" err="1" smtClean="0"/>
              <a:t>Itten</a:t>
            </a:r>
            <a:r>
              <a:rPr lang="en-US" sz="1400" dirty="0" smtClean="0"/>
              <a:t> (</a:t>
            </a:r>
            <a:r>
              <a:rPr lang="en-US" sz="1400" dirty="0" smtClean="0"/>
              <a:t>1961)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239000" cy="944562"/>
          </a:xfrm>
        </p:spPr>
        <p:txBody>
          <a:bodyPr/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Roata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de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culori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 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0" y="1905000"/>
            <a:ext cx="5791200" cy="3886200"/>
          </a:xfrm>
        </p:spPr>
        <p:txBody>
          <a:bodyPr>
            <a:normAutofit/>
          </a:bodyPr>
          <a:lstStyle/>
          <a:p>
            <a:r>
              <a:rPr lang="en-US" sz="2800" dirty="0" err="1" smtClean="0"/>
              <a:t>culori</a:t>
            </a:r>
            <a:r>
              <a:rPr lang="en-US" sz="2800" dirty="0" smtClean="0"/>
              <a:t> </a:t>
            </a:r>
            <a:r>
              <a:rPr lang="en-US" sz="2800" dirty="0" err="1" smtClean="0"/>
              <a:t>similare</a:t>
            </a:r>
            <a:r>
              <a:rPr lang="en-US" sz="2800" dirty="0" smtClean="0"/>
              <a:t>/</a:t>
            </a:r>
            <a:r>
              <a:rPr lang="en-US" sz="2800" dirty="0" err="1" smtClean="0"/>
              <a:t>analoage</a:t>
            </a:r>
            <a:r>
              <a:rPr lang="en-US" sz="2800" dirty="0" smtClean="0"/>
              <a:t> (analogous colors</a:t>
            </a:r>
            <a:r>
              <a:rPr lang="en-US" sz="2800" dirty="0" smtClean="0"/>
              <a:t>)</a:t>
            </a:r>
          </a:p>
          <a:p>
            <a:pPr>
              <a:buNone/>
            </a:pPr>
            <a:endParaRPr lang="en-US" sz="2800" dirty="0" smtClean="0"/>
          </a:p>
          <a:p>
            <a:r>
              <a:rPr lang="en-US" sz="2800" dirty="0" err="1" smtClean="0"/>
              <a:t>culori</a:t>
            </a:r>
            <a:r>
              <a:rPr lang="en-US" sz="2800" dirty="0" smtClean="0"/>
              <a:t> </a:t>
            </a:r>
            <a:r>
              <a:rPr lang="en-US" sz="2800" dirty="0" err="1" smtClean="0"/>
              <a:t>complementare</a:t>
            </a:r>
            <a:r>
              <a:rPr lang="en-US" sz="2800" dirty="0" smtClean="0"/>
              <a:t> (complementary colors)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6324600"/>
            <a:ext cx="7924800" cy="33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1200" dirty="0" smtClean="0">
                <a:latin typeface="Calibri" pitchFamily="34" charset="0"/>
                <a:cs typeface="Calibri" pitchFamily="34" charset="0"/>
                <a:hlinkClick r:id="rId2" tooltip="The Art Of Colors"/>
              </a:rPr>
              <a:t>The </a:t>
            </a:r>
            <a:r>
              <a:rPr lang="en-US" sz="1200" dirty="0" smtClean="0">
                <a:latin typeface="Calibri" pitchFamily="34" charset="0"/>
                <a:cs typeface="Calibri" pitchFamily="34" charset="0"/>
                <a:hlinkClick r:id="rId2" tooltip="The Art Of Colors"/>
              </a:rPr>
              <a:t>Art Of Colors</a:t>
            </a:r>
            <a:r>
              <a:rPr lang="en-US" sz="1200" dirty="0" smtClean="0">
                <a:latin typeface="Calibri" pitchFamily="34" charset="0"/>
                <a:cs typeface="Calibri" pitchFamily="34" charset="0"/>
              </a:rPr>
              <a:t> from </a:t>
            </a:r>
            <a:r>
              <a:rPr lang="en-US" sz="1200" dirty="0" smtClean="0">
                <a:latin typeface="Calibri" pitchFamily="34" charset="0"/>
                <a:cs typeface="Calibri" pitchFamily="34" charset="0"/>
                <a:hlinkClick r:id="rId3"/>
              </a:rPr>
              <a:t>Elisa </a:t>
            </a:r>
            <a:r>
              <a:rPr lang="en-US" sz="1200" dirty="0" err="1" smtClean="0">
                <a:latin typeface="Calibri" pitchFamily="34" charset="0"/>
                <a:cs typeface="Calibri" pitchFamily="34" charset="0"/>
                <a:hlinkClick r:id="rId3"/>
              </a:rPr>
              <a:t>Giaccardi</a:t>
            </a:r>
            <a:r>
              <a:rPr lang="en-US" sz="1200" dirty="0" smtClean="0">
                <a:latin typeface="Calibri" pitchFamily="34" charset="0"/>
                <a:cs typeface="Calibri" pitchFamily="34" charset="0"/>
              </a:rPr>
              <a:t> on Feb 24, 2009</a:t>
            </a:r>
            <a:endParaRPr lang="en-US" sz="1200" dirty="0" smtClean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6" name="Picture 5" descr="Farbkreis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096000" y="228600"/>
            <a:ext cx="984250" cy="971242"/>
          </a:xfrm>
          <a:prstGeom prst="rect">
            <a:avLst/>
          </a:prstGeom>
        </p:spPr>
      </p:pic>
      <p:pic>
        <p:nvPicPr>
          <p:cNvPr id="10" name="Picture 9" descr="KF_analogous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219200" y="1524000"/>
            <a:ext cx="1370230" cy="1352550"/>
          </a:xfrm>
          <a:prstGeom prst="rect">
            <a:avLst/>
          </a:prstGeom>
        </p:spPr>
      </p:pic>
      <p:pic>
        <p:nvPicPr>
          <p:cNvPr id="11" name="Picture 10" descr="KF_complementary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219200" y="3048000"/>
            <a:ext cx="1389530" cy="1371600"/>
          </a:xfrm>
          <a:prstGeom prst="rect">
            <a:avLst/>
          </a:pr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1219200" y="5029200"/>
            <a:ext cx="7239000" cy="944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Combinațiile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de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culori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opuse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sau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analogice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sunt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 </a:t>
            </a:r>
            <a:r>
              <a:rPr lang="en-US" sz="2000" b="1" dirty="0" err="1" smtClean="0">
                <a:latin typeface="Calibri" pitchFamily="34" charset="0"/>
                <a:cs typeface="Calibri" pitchFamily="34" charset="0"/>
              </a:rPr>
              <a:t>armonioase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Culori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în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web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design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2514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err="1" smtClean="0"/>
              <a:t>Valori</a:t>
            </a:r>
            <a:r>
              <a:rPr lang="en-US" b="1" dirty="0" smtClean="0"/>
              <a:t> </a:t>
            </a:r>
            <a:r>
              <a:rPr lang="en-US" b="1" dirty="0" err="1" smtClean="0"/>
              <a:t>RGB</a:t>
            </a:r>
            <a:endParaRPr lang="en-US" b="1" dirty="0" smtClean="0"/>
          </a:p>
          <a:p>
            <a:pPr marL="0" indent="0">
              <a:spcBef>
                <a:spcPts val="0"/>
              </a:spcBef>
              <a:buNone/>
            </a:pPr>
            <a:endParaRPr lang="en-US" sz="24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 err="1" smtClean="0"/>
              <a:t>Valorile</a:t>
            </a:r>
            <a:r>
              <a:rPr lang="en-US" sz="2400" dirty="0" smtClean="0"/>
              <a:t> </a:t>
            </a:r>
            <a:r>
              <a:rPr lang="en-US" sz="2400" dirty="0" err="1" smtClean="0"/>
              <a:t>pentru</a:t>
            </a:r>
            <a:r>
              <a:rPr lang="en-US" sz="2400" dirty="0" smtClean="0"/>
              <a:t> </a:t>
            </a:r>
            <a:r>
              <a:rPr lang="en-US" sz="2400" dirty="0" err="1" smtClean="0"/>
              <a:t>roșu</a:t>
            </a:r>
            <a:r>
              <a:rPr lang="en-US" sz="2400" dirty="0" smtClean="0"/>
              <a:t>, </a:t>
            </a:r>
            <a:r>
              <a:rPr lang="en-US" sz="2400" dirty="0" err="1" smtClean="0"/>
              <a:t>verde</a:t>
            </a:r>
            <a:r>
              <a:rPr lang="en-US" sz="2400" dirty="0" smtClean="0"/>
              <a:t> </a:t>
            </a:r>
            <a:r>
              <a:rPr lang="en-US" sz="2400" dirty="0" err="1" smtClean="0"/>
              <a:t>și</a:t>
            </a:r>
            <a:r>
              <a:rPr lang="en-US" sz="2400" dirty="0" smtClean="0"/>
              <a:t> </a:t>
            </a:r>
            <a:r>
              <a:rPr lang="en-US" sz="2400" dirty="0" err="1" smtClean="0"/>
              <a:t>albastru</a:t>
            </a:r>
            <a:r>
              <a:rPr lang="en-US" sz="2400" dirty="0" smtClean="0"/>
              <a:t> </a:t>
            </a:r>
            <a:r>
              <a:rPr lang="en-US" sz="2400" dirty="0" err="1" smtClean="0"/>
              <a:t>sunt</a:t>
            </a:r>
            <a:r>
              <a:rPr lang="en-US" sz="2400" dirty="0" smtClean="0"/>
              <a:t> date ca </a:t>
            </a:r>
            <a:r>
              <a:rPr lang="en-US" sz="2400" dirty="0" err="1" smtClean="0"/>
              <a:t>numere</a:t>
            </a:r>
            <a:r>
              <a:rPr lang="en-US" sz="2400" dirty="0" smtClean="0"/>
              <a:t> </a:t>
            </a:r>
            <a:r>
              <a:rPr lang="en-US" sz="2400" dirty="0" err="1" smtClean="0"/>
              <a:t>între</a:t>
            </a:r>
            <a:r>
              <a:rPr lang="en-US" sz="2400" dirty="0" smtClean="0"/>
              <a:t> 0 </a:t>
            </a:r>
            <a:r>
              <a:rPr lang="en-US" sz="2400" dirty="0" err="1" smtClean="0"/>
              <a:t>și</a:t>
            </a:r>
            <a:r>
              <a:rPr lang="en-US" sz="2400" dirty="0" smtClean="0"/>
              <a:t> 255.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err="1" smtClean="0"/>
              <a:t>rgb</a:t>
            </a:r>
            <a:r>
              <a:rPr lang="en-US" sz="2400" dirty="0" smtClean="0"/>
              <a:t>(102,205,170</a:t>
            </a:r>
            <a:r>
              <a:rPr lang="en-US" sz="2400" dirty="0" smtClean="0"/>
              <a:t>)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04800" y="6324600"/>
            <a:ext cx="8229600" cy="304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lang="en-US" sz="1200" dirty="0" smtClean="0">
                <a:hlinkClick r:id="rId2" tooltip="Basic css"/>
              </a:rPr>
              <a:t>HTML and </a:t>
            </a:r>
            <a:r>
              <a:rPr lang="en-US" sz="1200" dirty="0" err="1" smtClean="0">
                <a:hlinkClick r:id="rId2" tooltip="Basic css"/>
              </a:rPr>
              <a:t>CSS</a:t>
            </a:r>
            <a:r>
              <a:rPr lang="en-US" sz="1200" dirty="0" smtClean="0">
                <a:hlinkClick r:id="rId2" tooltip="Basic css"/>
              </a:rPr>
              <a:t>: Design and Build Websites</a:t>
            </a:r>
            <a:r>
              <a:rPr lang="en-US" sz="1200" dirty="0" smtClean="0"/>
              <a:t> by Jon </a:t>
            </a:r>
            <a:r>
              <a:rPr lang="en-US" sz="1200" dirty="0" err="1" smtClean="0"/>
              <a:t>Duckett</a:t>
            </a:r>
            <a:r>
              <a:rPr lang="en-US" sz="1200" dirty="0" smtClean="0"/>
              <a:t>, 2011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124200" y="1600200"/>
            <a:ext cx="2514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b="1" dirty="0" err="1" smtClean="0"/>
              <a:t>Coduri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hexa</a:t>
            </a:r>
            <a:endParaRPr lang="en-US" sz="3200" b="1" dirty="0" smtClean="0"/>
          </a:p>
          <a:p>
            <a:endParaRPr lang="en-US" sz="2400" noProof="0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sz="2400" dirty="0" smtClean="0">
                <a:latin typeface="Calibri" pitchFamily="34" charset="0"/>
                <a:cs typeface="Calibri" pitchFamily="34" charset="0"/>
              </a:rPr>
              <a:t>Codurile hexa reprezintă valori pentru roșu, verde și albastru în cod hexazecimal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endParaRPr lang="vi-VN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sz="2400" dirty="0" smtClean="0">
                <a:latin typeface="Calibri" pitchFamily="34" charset="0"/>
                <a:cs typeface="Calibri" pitchFamily="34" charset="0"/>
              </a:rPr>
              <a:t>#66cdaa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791200" y="1600200"/>
            <a:ext cx="2895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b="1" dirty="0" err="1" smtClean="0"/>
              <a:t>Nume</a:t>
            </a:r>
            <a:r>
              <a:rPr lang="en-US" sz="3200" b="1" dirty="0" smtClean="0"/>
              <a:t> de </a:t>
            </a:r>
            <a:r>
              <a:rPr lang="en-US" sz="3200" b="1" dirty="0" err="1" smtClean="0"/>
              <a:t>culori</a:t>
            </a:r>
            <a:endParaRPr lang="en-US" sz="3200" b="1" dirty="0" smtClean="0"/>
          </a:p>
          <a:p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vi-VN" sz="2400" dirty="0" smtClean="0">
                <a:latin typeface="Calibri" pitchFamily="34" charset="0"/>
                <a:cs typeface="Calibri" pitchFamily="34" charset="0"/>
              </a:rPr>
              <a:t>Culorile sunt reprezentate de nume predefinite. Ele sunt limitate în număr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endParaRPr lang="vi-VN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sz="2400" dirty="0" smtClean="0">
                <a:latin typeface="Calibri" pitchFamily="34" charset="0"/>
                <a:cs typeface="Calibri" pitchFamily="34" charset="0"/>
              </a:rPr>
              <a:t>MediumAquaMarine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" name="Picture 8" descr="0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00400" y="4953000"/>
            <a:ext cx="2209800" cy="361950"/>
          </a:xfrm>
          <a:prstGeom prst="rect">
            <a:avLst/>
          </a:prstGeom>
        </p:spPr>
      </p:pic>
      <p:pic>
        <p:nvPicPr>
          <p:cNvPr id="11" name="Picture 10" descr="0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3400" y="4953000"/>
            <a:ext cx="2209800" cy="361950"/>
          </a:xfrm>
          <a:prstGeom prst="rect">
            <a:avLst/>
          </a:prstGeom>
        </p:spPr>
      </p:pic>
      <p:pic>
        <p:nvPicPr>
          <p:cNvPr id="12" name="Picture 11" descr="0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67400" y="4953000"/>
            <a:ext cx="22098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Valori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RGB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și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CSS3: </a:t>
            </a:r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opacity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 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și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 </a:t>
            </a:r>
            <a:r>
              <a:rPr lang="en-US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rgba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86200" cy="45259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/>
              <a:t>.box-one {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background-color: </a:t>
            </a:r>
            <a:r>
              <a:rPr lang="en-US" dirty="0" err="1" smtClean="0">
                <a:solidFill>
                  <a:srgbClr val="0070C0"/>
                </a:solidFill>
              </a:rPr>
              <a:t>rgb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92D050"/>
                </a:solidFill>
              </a:rPr>
              <a:t>0,0,0</a:t>
            </a:r>
            <a:r>
              <a:rPr lang="en-US" dirty="0" smtClean="0"/>
              <a:t>);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	opacity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92D050"/>
                </a:solidFill>
              </a:rPr>
              <a:t>0.5</a:t>
            </a:r>
            <a:r>
              <a:rPr lang="en-US" dirty="0" smtClean="0"/>
              <a:t>;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}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.</a:t>
            </a:r>
            <a:r>
              <a:rPr lang="en-US" dirty="0" smtClean="0"/>
              <a:t>box-two {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background-color</a:t>
            </a:r>
            <a:r>
              <a:rPr lang="en-US" dirty="0" smtClean="0"/>
              <a:t>: </a:t>
            </a:r>
            <a:r>
              <a:rPr lang="en-US" dirty="0" err="1" smtClean="0">
                <a:solidFill>
                  <a:srgbClr val="0070C0"/>
                </a:solidFill>
              </a:rPr>
              <a:t>rgb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92D050"/>
                </a:solidFill>
              </a:rPr>
              <a:t>0,0,0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background-color</a:t>
            </a:r>
            <a:r>
              <a:rPr lang="en-US" dirty="0" smtClean="0"/>
              <a:t>: </a:t>
            </a:r>
            <a:r>
              <a:rPr lang="en-US" dirty="0" smtClean="0"/>
              <a:t>	</a:t>
            </a:r>
            <a:r>
              <a:rPr lang="en-US" dirty="0" err="1" smtClean="0">
                <a:solidFill>
                  <a:srgbClr val="0070C0"/>
                </a:solidFill>
              </a:rPr>
              <a:t>rgba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92D050"/>
                </a:solidFill>
              </a:rPr>
              <a:t>0,0,0,0.25</a:t>
            </a:r>
            <a:r>
              <a:rPr lang="en-US" dirty="0" smtClean="0"/>
              <a:t>);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/>
              <a:t>}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endParaRPr lang="en-US" dirty="0"/>
          </a:p>
        </p:txBody>
      </p:sp>
      <p:pic>
        <p:nvPicPr>
          <p:cNvPr id="4" name="Picture 3" descr="09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19600" y="2590800"/>
            <a:ext cx="4533900" cy="2105025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381000" y="6096000"/>
            <a:ext cx="8229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1200" dirty="0" smtClean="0">
                <a:hlinkClick r:id="rId3" tooltip="Basic css"/>
              </a:rPr>
              <a:t>HTML </a:t>
            </a:r>
            <a:r>
              <a:rPr lang="en-US" sz="1200" dirty="0" smtClean="0">
                <a:hlinkClick r:id="rId3" tooltip="Basic css"/>
              </a:rPr>
              <a:t>and </a:t>
            </a:r>
            <a:r>
              <a:rPr lang="en-US" sz="1200" dirty="0" err="1" smtClean="0">
                <a:hlinkClick r:id="rId3" tooltip="Basic css"/>
              </a:rPr>
              <a:t>CSS</a:t>
            </a:r>
            <a:r>
              <a:rPr lang="en-US" sz="1200" dirty="0" smtClean="0">
                <a:hlinkClick r:id="rId3" tooltip="Basic css"/>
              </a:rPr>
              <a:t>: Design and Build Websites</a:t>
            </a:r>
            <a:r>
              <a:rPr lang="en-US" sz="1200" dirty="0" smtClean="0"/>
              <a:t> by Jon </a:t>
            </a:r>
            <a:r>
              <a:rPr lang="en-US" sz="1200" dirty="0" err="1" smtClean="0"/>
              <a:t>Duckett</a:t>
            </a:r>
            <a:r>
              <a:rPr lang="en-US" sz="1200" dirty="0" smtClean="0"/>
              <a:t>, 2011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cs typeface="Calibri" pitchFamily="34" charset="0"/>
              </a:rPr>
              <a:t>Reprezentarea hexazecimală a </a:t>
            </a:r>
            <a:r>
              <a:rPr lang="vi-VN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cs typeface="Calibri" pitchFamily="34" charset="0"/>
              </a:rPr>
              <a:t>culorilor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0"/>
            <a:ext cx="8229600" cy="304800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1200" dirty="0" smtClean="0">
                <a:hlinkClick r:id="rId2" tooltip="The Art Of Colors"/>
              </a:rPr>
              <a:t>The Art Of Colors</a:t>
            </a:r>
            <a:r>
              <a:rPr lang="en-US" sz="1200" dirty="0" smtClean="0"/>
              <a:t> from </a:t>
            </a:r>
            <a:r>
              <a:rPr lang="en-US" sz="1200" dirty="0" smtClean="0">
                <a:hlinkClick r:id="rId3"/>
              </a:rPr>
              <a:t>Elisa </a:t>
            </a:r>
            <a:r>
              <a:rPr lang="en-US" sz="1200" dirty="0" err="1" smtClean="0">
                <a:hlinkClick r:id="rId3"/>
              </a:rPr>
              <a:t>Giaccardi</a:t>
            </a:r>
            <a:r>
              <a:rPr lang="en-US" sz="1200" dirty="0" smtClean="0"/>
              <a:t> on Feb 24, 2009</a:t>
            </a:r>
            <a:endParaRPr lang="en-US" sz="1200" dirty="0"/>
          </a:p>
        </p:txBody>
      </p:sp>
      <p:pic>
        <p:nvPicPr>
          <p:cNvPr id="7" name="Picture 6" descr="10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1023" y="1419087"/>
            <a:ext cx="8936777" cy="4524513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cs typeface="Calibri" pitchFamily="34" charset="0"/>
              </a:rPr>
              <a:t>Recomandări pentru designerii </a:t>
            </a:r>
            <a:r>
              <a:rPr lang="vi-VN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cs typeface="Calibri" pitchFamily="34" charset="0"/>
              </a:rPr>
              <a:t>UI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smtClean="0">
                <a:latin typeface="Calibri" pitchFamily="34" charset="0"/>
                <a:cs typeface="Calibri" pitchFamily="34" charset="0"/>
              </a:rPr>
              <a:t>asigurați-vă că 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textul este lizibil</a:t>
            </a:r>
            <a:endParaRPr lang="vi-VN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dirty="0" smtClean="0">
                <a:latin typeface="Calibri" pitchFamily="34" charset="0"/>
                <a:cs typeface="Calibri" pitchFamily="34" charset="0"/>
              </a:rPr>
              <a:t>îmbunătățiți 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experiența utilizatorului</a:t>
            </a:r>
            <a:endParaRPr lang="vi-VN" dirty="0" smtClean="0">
              <a:latin typeface="Calibri" pitchFamily="34" charset="0"/>
              <a:cs typeface="Calibri" pitchFamily="34" charset="0"/>
            </a:endParaRPr>
          </a:p>
          <a:p>
            <a:pPr lvl="1"/>
            <a:r>
              <a:rPr lang="vi-VN" dirty="0" smtClean="0">
                <a:latin typeface="Calibri" pitchFamily="34" charset="0"/>
                <a:cs typeface="Calibri" pitchFamily="34" charset="0"/>
              </a:rPr>
              <a:t>setați convențiile și aplicați culoarea în mod consecvent</a:t>
            </a:r>
          </a:p>
          <a:p>
            <a:r>
              <a:rPr lang="vi-VN" dirty="0" smtClean="0">
                <a:latin typeface="Calibri" pitchFamily="34" charset="0"/>
                <a:cs typeface="Calibri" pitchFamily="34" charset="0"/>
              </a:rPr>
              <a:t>utilizați culoarea pentru identificare, grupare și 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accentuare</a:t>
            </a:r>
            <a:endParaRPr lang="vi-VN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dirty="0" smtClean="0">
                <a:latin typeface="Calibri" pitchFamily="34" charset="0"/>
                <a:cs typeface="Calibri" pitchFamily="34" charset="0"/>
              </a:rPr>
              <a:t>aflați despre asociațiile de culori 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culturale</a:t>
            </a:r>
            <a:endParaRPr lang="vi-VN" dirty="0" smtClean="0">
              <a:latin typeface="Calibri" pitchFamily="34" charset="0"/>
              <a:cs typeface="Calibri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Culori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: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alte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resurse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Calibri" pitchFamily="34" charset="0"/>
                <a:cs typeface="Calibri" pitchFamily="34" charset="0"/>
                <a:hlinkClick r:id="rId2"/>
              </a:rPr>
              <a:t>An Introduction to Color Theory for Web Designers by Thomas </a:t>
            </a:r>
            <a:r>
              <a:rPr lang="en-US" dirty="0" smtClean="0">
                <a:latin typeface="Calibri" pitchFamily="34" charset="0"/>
                <a:cs typeface="Calibri" pitchFamily="34" charset="0"/>
                <a:hlinkClick r:id="rId2"/>
              </a:rPr>
              <a:t>Cannon</a:t>
            </a: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dirty="0" smtClean="0">
                <a:latin typeface="Calibri" pitchFamily="34" charset="0"/>
                <a:cs typeface="Calibri" pitchFamily="34" charset="0"/>
                <a:hlinkClick r:id="rId3"/>
              </a:rPr>
              <a:t>A Look into Color Theory in Web Design by Shannon </a:t>
            </a:r>
            <a:r>
              <a:rPr lang="en-US" dirty="0" err="1" smtClean="0">
                <a:latin typeface="Calibri" pitchFamily="34" charset="0"/>
                <a:cs typeface="Calibri" pitchFamily="34" charset="0"/>
                <a:hlinkClick r:id="rId3"/>
              </a:rPr>
              <a:t>Noack</a:t>
            </a: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dirty="0" err="1" smtClean="0">
                <a:latin typeface="Calibri" pitchFamily="34" charset="0"/>
                <a:cs typeface="Calibri" pitchFamily="34" charset="0"/>
                <a:hlinkClick r:id="rId4"/>
              </a:rPr>
              <a:t>Colour</a:t>
            </a:r>
            <a:r>
              <a:rPr lang="en-US" dirty="0" smtClean="0">
                <a:latin typeface="Calibri" pitchFamily="34" charset="0"/>
                <a:cs typeface="Calibri" pitchFamily="34" charset="0"/>
                <a:hlinkClick r:id="rId4"/>
              </a:rPr>
              <a:t> in Web Design by Ben </a:t>
            </a:r>
            <a:r>
              <a:rPr lang="en-US" dirty="0" smtClean="0">
                <a:latin typeface="Calibri" pitchFamily="34" charset="0"/>
                <a:cs typeface="Calibri" pitchFamily="34" charset="0"/>
                <a:hlinkClick r:id="rId4"/>
              </a:rPr>
              <a:t>Hunt</a:t>
            </a: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b="1" dirty="0" smtClean="0">
                <a:latin typeface="Calibri" pitchFamily="34" charset="0"/>
                <a:cs typeface="Calibri" pitchFamily="34" charset="0"/>
                <a:hlinkClick r:id="rId5"/>
              </a:rPr>
              <a:t>The Non-Designer's Design Book by Robin </a:t>
            </a:r>
            <a:r>
              <a:rPr lang="en-US" b="1" dirty="0" smtClean="0">
                <a:latin typeface="Calibri" pitchFamily="34" charset="0"/>
                <a:cs typeface="Calibri" pitchFamily="34" charset="0"/>
                <a:hlinkClick r:id="rId5"/>
              </a:rPr>
              <a:t>Williams</a:t>
            </a:r>
            <a:endParaRPr lang="en-US" b="1" dirty="0" smtClean="0">
              <a:latin typeface="Calibri" pitchFamily="34" charset="0"/>
              <a:cs typeface="Calibri" pitchFamily="34" charset="0"/>
            </a:endParaRPr>
          </a:p>
          <a:p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dirty="0" smtClean="0">
                <a:latin typeface="Calibri" pitchFamily="34" charset="0"/>
                <a:cs typeface="Calibri" pitchFamily="34" charset="0"/>
                <a:hlinkClick r:id="rId6"/>
              </a:rPr>
              <a:t>Presentation Zen: Simple Ideas on Presentation Design and Delivery by Garr Reynolds, Chapter 6</a:t>
            </a: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Culori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: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alte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resurse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Calibri" pitchFamily="34" charset="0"/>
                <a:cs typeface="Calibri" pitchFamily="34" charset="0"/>
                <a:hlinkClick r:id="rId2"/>
              </a:rPr>
              <a:t>Color Theory for Digital Displays: A Quick Reference: Part I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, by </a:t>
            </a:r>
            <a:r>
              <a:rPr lang="en-US" dirty="0" err="1" smtClean="0">
                <a:latin typeface="Calibri" pitchFamily="34" charset="0"/>
                <a:cs typeface="Calibri" pitchFamily="34" charset="0"/>
              </a:rPr>
              <a:t>Pabini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 Gabriel-Petit, January 23,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2006</a:t>
            </a:r>
          </a:p>
          <a:p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dirty="0" smtClean="0">
                <a:latin typeface="Calibri" pitchFamily="34" charset="0"/>
                <a:cs typeface="Calibri" pitchFamily="34" charset="0"/>
                <a:hlinkClick r:id="rId3"/>
              </a:rPr>
              <a:t>Color Theory for Digital Displays: A Quick Reference: Part II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, by </a:t>
            </a:r>
            <a:r>
              <a:rPr lang="en-US" dirty="0" err="1" smtClean="0">
                <a:latin typeface="Calibri" pitchFamily="34" charset="0"/>
                <a:cs typeface="Calibri" pitchFamily="34" charset="0"/>
              </a:rPr>
              <a:t>Pabini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 Gabriel-Petit, January 23,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2006</a:t>
            </a:r>
          </a:p>
          <a:p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dirty="0" smtClean="0">
                <a:latin typeface="Calibri" pitchFamily="34" charset="0"/>
                <a:cs typeface="Calibri" pitchFamily="34" charset="0"/>
                <a:hlinkClick r:id="rId4"/>
              </a:rPr>
              <a:t>Applying Color Theory to Digital Displays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, by </a:t>
            </a:r>
            <a:r>
              <a:rPr lang="en-US" dirty="0" err="1" smtClean="0">
                <a:latin typeface="Calibri" pitchFamily="34" charset="0"/>
                <a:cs typeface="Calibri" pitchFamily="34" charset="0"/>
              </a:rPr>
              <a:t>Pabini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 Gabriel-Petit, January 20,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2007</a:t>
            </a:r>
          </a:p>
          <a:p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b="1" dirty="0" smtClean="0">
                <a:latin typeface="Calibri" pitchFamily="34" charset="0"/>
                <a:cs typeface="Calibri" pitchFamily="34" charset="0"/>
              </a:rPr>
              <a:t>The Art of Color: The Subjective Experience and Objective Rationale of Color, by Johannes </a:t>
            </a:r>
            <a:r>
              <a:rPr lang="en-US" b="1" dirty="0" err="1" smtClean="0">
                <a:latin typeface="Calibri" pitchFamily="34" charset="0"/>
                <a:cs typeface="Calibri" pitchFamily="34" charset="0"/>
              </a:rPr>
              <a:t>Itten</a:t>
            </a:r>
            <a:r>
              <a:rPr lang="en-US" b="1" dirty="0" smtClean="0">
                <a:latin typeface="Calibri" pitchFamily="34" charset="0"/>
                <a:cs typeface="Calibri" pitchFamily="34" charset="0"/>
              </a:rPr>
              <a:t>, Wiley, Jan 15, 1974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4600"/>
            <a:ext cx="8229600" cy="1935162"/>
          </a:xfrm>
        </p:spPr>
        <p:txBody>
          <a:bodyPr>
            <a:noAutofit/>
          </a:bodyPr>
          <a:lstStyle/>
          <a:p>
            <a:r>
              <a:rPr lang="en-US" sz="9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Imagini</a:t>
            </a:r>
            <a:endParaRPr lang="en-US" sz="9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Imagini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vi-VN" sz="2800" dirty="0" smtClean="0">
                <a:latin typeface="Calibri" pitchFamily="34" charset="0"/>
                <a:cs typeface="Calibri" pitchFamily="34" charset="0"/>
              </a:rPr>
              <a:t>Recomandări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sz="28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800" dirty="0" smtClean="0">
                <a:latin typeface="Calibri" pitchFamily="34" charset="0"/>
                <a:cs typeface="Calibri" pitchFamily="34" charset="0"/>
              </a:rPr>
              <a:t>	- </a:t>
            </a:r>
            <a:r>
              <a:rPr lang="vi-VN" sz="2800" dirty="0" smtClean="0">
                <a:latin typeface="Calibri" pitchFamily="34" charset="0"/>
                <a:cs typeface="Calibri" pitchFamily="34" charset="0"/>
              </a:rPr>
              <a:t>utilizați </a:t>
            </a:r>
            <a:r>
              <a:rPr lang="vi-VN" sz="2800" dirty="0" smtClean="0">
                <a:latin typeface="Calibri" pitchFamily="34" charset="0"/>
                <a:cs typeface="Calibri" pitchFamily="34" charset="0"/>
              </a:rPr>
              <a:t>formatul </a:t>
            </a:r>
            <a:r>
              <a:rPr lang="vi-VN" sz="2800" b="1" dirty="0" smtClean="0">
                <a:latin typeface="Calibri" pitchFamily="34" charset="0"/>
                <a:cs typeface="Calibri" pitchFamily="34" charset="0"/>
              </a:rPr>
              <a:t>JPEG</a:t>
            </a:r>
            <a:r>
              <a:rPr lang="vi-VN" sz="2800" dirty="0" smtClean="0">
                <a:latin typeface="Calibri" pitchFamily="34" charset="0"/>
                <a:cs typeface="Calibri" pitchFamily="34" charset="0"/>
              </a:rPr>
              <a:t> pentru fotografii</a:t>
            </a:r>
          </a:p>
          <a:p>
            <a:pPr>
              <a:buNone/>
            </a:pPr>
            <a:r>
              <a:rPr lang="en-US" sz="2800" dirty="0" smtClean="0">
                <a:latin typeface="Calibri" pitchFamily="34" charset="0"/>
                <a:cs typeface="Calibri" pitchFamily="34" charset="0"/>
              </a:rPr>
              <a:t> 	- </a:t>
            </a:r>
            <a:r>
              <a:rPr lang="vi-VN" sz="2800" dirty="0" smtClean="0">
                <a:latin typeface="Calibri" pitchFamily="34" charset="0"/>
                <a:cs typeface="Calibri" pitchFamily="34" charset="0"/>
              </a:rPr>
              <a:t>utilizați </a:t>
            </a:r>
            <a:r>
              <a:rPr lang="vi-VN" sz="2800" dirty="0" smtClean="0">
                <a:latin typeface="Calibri" pitchFamily="34" charset="0"/>
                <a:cs typeface="Calibri" pitchFamily="34" charset="0"/>
              </a:rPr>
              <a:t>formatul </a:t>
            </a:r>
            <a:r>
              <a:rPr lang="vi-VN" sz="2800" b="1" dirty="0" smtClean="0">
                <a:latin typeface="Calibri" pitchFamily="34" charset="0"/>
                <a:cs typeface="Calibri" pitchFamily="34" charset="0"/>
              </a:rPr>
              <a:t>PNG</a:t>
            </a:r>
            <a:r>
              <a:rPr lang="vi-VN" sz="2800" dirty="0" smtClean="0">
                <a:latin typeface="Calibri" pitchFamily="34" charset="0"/>
                <a:cs typeface="Calibri" pitchFamily="34" charset="0"/>
              </a:rPr>
              <a:t> pentru toate celelalte Imagini</a:t>
            </a:r>
          </a:p>
          <a:p>
            <a:pPr>
              <a:buNone/>
            </a:pPr>
            <a:r>
              <a:rPr lang="en-US" sz="2800" dirty="0" smtClean="0">
                <a:latin typeface="Calibri" pitchFamily="34" charset="0"/>
                <a:cs typeface="Calibri" pitchFamily="34" charset="0"/>
              </a:rPr>
              <a:t>	- </a:t>
            </a:r>
            <a:r>
              <a:rPr lang="vi-VN" sz="2800" dirty="0" smtClean="0">
                <a:latin typeface="Calibri" pitchFamily="34" charset="0"/>
                <a:cs typeface="Calibri" pitchFamily="34" charset="0"/>
              </a:rPr>
              <a:t>utilizați </a:t>
            </a:r>
            <a:r>
              <a:rPr lang="vi-VN" sz="2800" dirty="0" smtClean="0">
                <a:latin typeface="Calibri" pitchFamily="34" charset="0"/>
                <a:cs typeface="Calibri" pitchFamily="34" charset="0"/>
              </a:rPr>
              <a:t>mai puține cereri </a:t>
            </a:r>
            <a:r>
              <a:rPr lang="vi-VN" sz="2800" dirty="0" smtClean="0">
                <a:latin typeface="Calibri" pitchFamily="34" charset="0"/>
                <a:cs typeface="Calibri" pitchFamily="34" charset="0"/>
              </a:rPr>
              <a:t>HTTP: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800" dirty="0" smtClean="0">
                <a:latin typeface="Calibri" pitchFamily="34" charset="0"/>
                <a:cs typeface="Calibri" pitchFamily="34" charset="0"/>
              </a:rPr>
              <a:t>	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-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utilizați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 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CSS-Sprites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 (dacă este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necesar)</a:t>
            </a: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dirty="0" smtClean="0">
                <a:latin typeface="Calibri" pitchFamily="34" charset="0"/>
                <a:cs typeface="Calibri" pitchFamily="34" charset="0"/>
              </a:rPr>
              <a:t>	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-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utilizați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schema "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data: URI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"</a:t>
            </a:r>
          </a:p>
          <a:p>
            <a:pPr>
              <a:buNone/>
            </a:pPr>
            <a:r>
              <a:rPr lang="en-US" sz="2800" b="1" dirty="0" smtClean="0">
                <a:latin typeface="Calibri" pitchFamily="34" charset="0"/>
                <a:cs typeface="Calibri" pitchFamily="34" charset="0"/>
              </a:rPr>
              <a:t>	- </a:t>
            </a:r>
            <a:r>
              <a:rPr lang="vi-VN" sz="2800" b="1" dirty="0" smtClean="0">
                <a:latin typeface="Calibri" pitchFamily="34" charset="0"/>
                <a:cs typeface="Calibri" pitchFamily="34" charset="0"/>
              </a:rPr>
              <a:t>nu </a:t>
            </a:r>
            <a:r>
              <a:rPr lang="vi-VN" sz="2800" b="1" dirty="0" smtClean="0">
                <a:latin typeface="Calibri" pitchFamily="34" charset="0"/>
                <a:cs typeface="Calibri" pitchFamily="34" charset="0"/>
              </a:rPr>
              <a:t>utilizați</a:t>
            </a:r>
            <a:r>
              <a:rPr lang="vi-VN" sz="2800" dirty="0" smtClean="0">
                <a:latin typeface="Calibri" pitchFamily="34" charset="0"/>
                <a:cs typeface="Calibri" pitchFamily="34" charset="0"/>
              </a:rPr>
              <a:t> imagini pentru UI (de exemplu, pentru colțuri </a:t>
            </a:r>
            <a:r>
              <a:rPr lang="vi-VN" sz="2800" dirty="0" smtClean="0">
                <a:latin typeface="Calibri" pitchFamily="34" charset="0"/>
                <a:cs typeface="Calibri" pitchFamily="34" charset="0"/>
              </a:rPr>
              <a:t>rotunjite,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vi-VN" sz="2800" dirty="0" smtClean="0">
                <a:latin typeface="Calibri" pitchFamily="34" charset="0"/>
                <a:cs typeface="Calibri" pitchFamily="34" charset="0"/>
              </a:rPr>
              <a:t>pentru </a:t>
            </a:r>
            <a:r>
              <a:rPr lang="vi-VN" sz="2800" dirty="0" smtClean="0">
                <a:latin typeface="Calibri" pitchFamily="34" charset="0"/>
                <a:cs typeface="Calibri" pitchFamily="34" charset="0"/>
              </a:rPr>
              <a:t>gradienți, umbre sau efecte de strălucire)</a:t>
            </a:r>
            <a:endParaRPr lang="vi-VN" sz="28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Optimizarea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dimensiunilor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fișierelor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imagine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22116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err="1" smtClean="0"/>
              <a:t>Regula</a:t>
            </a:r>
            <a:r>
              <a:rPr lang="en-US" dirty="0" smtClean="0"/>
              <a:t> nr. 1: nu </a:t>
            </a:r>
            <a:r>
              <a:rPr lang="en-US" dirty="0" err="1" smtClean="0"/>
              <a:t>folosiți</a:t>
            </a:r>
            <a:r>
              <a:rPr lang="en-US" dirty="0" smtClean="0"/>
              <a:t> GIF-</a:t>
            </a:r>
            <a:r>
              <a:rPr lang="en-US" dirty="0" err="1" smtClean="0"/>
              <a:t>uri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2600" dirty="0" smtClean="0"/>
              <a:t>$ </a:t>
            </a:r>
            <a:r>
              <a:rPr lang="en-US" sz="2600" dirty="0" err="1" smtClean="0"/>
              <a:t>optipng</a:t>
            </a:r>
            <a:r>
              <a:rPr lang="en-US" sz="2600" dirty="0" smtClean="0"/>
              <a:t> *.</a:t>
            </a:r>
            <a:r>
              <a:rPr lang="en-US" sz="2600" dirty="0" smtClean="0"/>
              <a:t>gif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algn="ctr">
              <a:buNone/>
            </a:pPr>
            <a:r>
              <a:rPr lang="en-US" sz="1300" dirty="0" err="1" smtClean="0">
                <a:hlinkClick r:id="rId2"/>
              </a:rPr>
              <a:t>CSS</a:t>
            </a:r>
            <a:r>
              <a:rPr lang="en-US" sz="1300" dirty="0" smtClean="0">
                <a:hlinkClick r:id="rId2"/>
              </a:rPr>
              <a:t> </a:t>
            </a:r>
            <a:r>
              <a:rPr lang="en-US" sz="1300" dirty="0" smtClean="0">
                <a:hlinkClick r:id="rId2"/>
              </a:rPr>
              <a:t>and image optimization</a:t>
            </a:r>
            <a:r>
              <a:rPr lang="en-US" sz="1300" dirty="0" smtClean="0"/>
              <a:t> by </a:t>
            </a:r>
            <a:r>
              <a:rPr lang="en-US" sz="1300" dirty="0" err="1" smtClean="0"/>
              <a:t>Stoyan</a:t>
            </a:r>
            <a:r>
              <a:rPr lang="en-US" sz="1300" dirty="0" smtClean="0"/>
              <a:t> </a:t>
            </a:r>
            <a:r>
              <a:rPr lang="en-US" sz="1300" dirty="0" err="1" smtClean="0"/>
              <a:t>Stefanov</a:t>
            </a:r>
            <a:r>
              <a:rPr lang="en-US" sz="1300" dirty="0" smtClean="0"/>
              <a:t> on May 12, 2010</a:t>
            </a:r>
            <a:endParaRPr lang="en-US" sz="1300" dirty="0"/>
          </a:p>
        </p:txBody>
      </p:sp>
      <p:pic>
        <p:nvPicPr>
          <p:cNvPr id="4" name="Picture 3" descr="noGIFs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95475" y="2495550"/>
            <a:ext cx="5353050" cy="230505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De ce </a:t>
            </a:r>
            <a:r>
              <a:rPr lang="fr-FR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să</a:t>
            </a:r>
            <a:r>
              <a:rPr lang="fr-F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fr-FR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folosi</a:t>
            </a:r>
            <a:r>
              <a:rPr lang="fr-F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ți </a:t>
            </a:r>
            <a:r>
              <a:rPr lang="fr-FR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PNG</a:t>
            </a:r>
            <a:r>
              <a:rPr lang="fr-F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?</a:t>
            </a:r>
            <a:endParaRPr lang="fr-FR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sz="5100" b="1" dirty="0" smtClean="0"/>
              <a:t>PNG-8</a:t>
            </a:r>
          </a:p>
          <a:p>
            <a:pPr>
              <a:buNone/>
            </a:pPr>
            <a:r>
              <a:rPr lang="vi-VN" dirty="0" smtClean="0"/>
              <a:t/>
            </a:r>
            <a:br>
              <a:rPr lang="vi-VN" dirty="0" smtClean="0"/>
            </a:br>
            <a:r>
              <a:rPr lang="en-US" sz="3400" dirty="0" smtClean="0">
                <a:latin typeface="Calibri" pitchFamily="34" charset="0"/>
                <a:cs typeface="Calibri" pitchFamily="34" charset="0"/>
              </a:rPr>
              <a:t>- </a:t>
            </a:r>
            <a:r>
              <a:rPr lang="vi-VN" sz="3400" dirty="0" smtClean="0">
                <a:latin typeface="Calibri" pitchFamily="34" charset="0"/>
                <a:cs typeface="Calibri" pitchFamily="34" charset="0"/>
              </a:rPr>
              <a:t>paleta </a:t>
            </a:r>
            <a:r>
              <a:rPr lang="vi-VN" sz="3400" dirty="0" smtClean="0">
                <a:latin typeface="Calibri" pitchFamily="34" charset="0"/>
                <a:cs typeface="Calibri" pitchFamily="34" charset="0"/>
              </a:rPr>
              <a:t>de culori a imaginii (ca și </a:t>
            </a:r>
            <a:r>
              <a:rPr lang="vi-VN" sz="3400" dirty="0" smtClean="0">
                <a:latin typeface="Calibri" pitchFamily="34" charset="0"/>
                <a:cs typeface="Calibri" pitchFamily="34" charset="0"/>
              </a:rPr>
              <a:t>GIF)</a:t>
            </a:r>
            <a:r>
              <a:rPr lang="en-US" sz="3400" dirty="0" smtClean="0">
                <a:latin typeface="Calibri" pitchFamily="34" charset="0"/>
                <a:cs typeface="Calibri" pitchFamily="34" charset="0"/>
              </a:rPr>
              <a:t> </a:t>
            </a:r>
            <a:endParaRPr lang="en-US" sz="34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3400" dirty="0" smtClean="0">
                <a:latin typeface="Calibri" pitchFamily="34" charset="0"/>
                <a:cs typeface="Calibri" pitchFamily="34" charset="0"/>
              </a:rPr>
              <a:t>	</a:t>
            </a:r>
            <a:r>
              <a:rPr lang="en-US" sz="3400" dirty="0" smtClean="0">
                <a:latin typeface="Calibri" pitchFamily="34" charset="0"/>
                <a:cs typeface="Calibri" pitchFamily="34" charset="0"/>
              </a:rPr>
              <a:t>- </a:t>
            </a:r>
            <a:r>
              <a:rPr lang="vi-VN" sz="3400" dirty="0" smtClean="0">
                <a:latin typeface="Calibri" pitchFamily="34" charset="0"/>
                <a:cs typeface="Calibri" pitchFamily="34" charset="0"/>
              </a:rPr>
              <a:t>256 </a:t>
            </a:r>
            <a:r>
              <a:rPr lang="vi-VN" sz="3400" dirty="0" smtClean="0">
                <a:latin typeface="Calibri" pitchFamily="34" charset="0"/>
                <a:cs typeface="Calibri" pitchFamily="34" charset="0"/>
              </a:rPr>
              <a:t>culori (ca și GIF</a:t>
            </a:r>
            <a:r>
              <a:rPr lang="vi-VN" sz="3400" dirty="0" smtClean="0">
                <a:latin typeface="Calibri" pitchFamily="34" charset="0"/>
                <a:cs typeface="Calibri" pitchFamily="34" charset="0"/>
              </a:rPr>
              <a:t>)</a:t>
            </a:r>
            <a:endParaRPr lang="en-US" sz="34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3400" dirty="0" smtClean="0">
                <a:latin typeface="Calibri" pitchFamily="34" charset="0"/>
                <a:cs typeface="Calibri" pitchFamily="34" charset="0"/>
              </a:rPr>
              <a:t>	</a:t>
            </a:r>
            <a:r>
              <a:rPr lang="en-US" sz="3400" dirty="0" smtClean="0">
                <a:latin typeface="Calibri" pitchFamily="34" charset="0"/>
                <a:cs typeface="Calibri" pitchFamily="34" charset="0"/>
              </a:rPr>
              <a:t>- </a:t>
            </a:r>
            <a:r>
              <a:rPr lang="vi-VN" sz="3400" dirty="0" smtClean="0">
                <a:latin typeface="Calibri" pitchFamily="34" charset="0"/>
                <a:cs typeface="Calibri" pitchFamily="34" charset="0"/>
              </a:rPr>
              <a:t>mai </a:t>
            </a:r>
            <a:r>
              <a:rPr lang="vi-VN" sz="3400" dirty="0" smtClean="0">
                <a:latin typeface="Calibri" pitchFamily="34" charset="0"/>
                <a:cs typeface="Calibri" pitchFamily="34" charset="0"/>
              </a:rPr>
              <a:t>mic decât GIF (GIF</a:t>
            </a:r>
            <a:r>
              <a:rPr lang="vi-VN" sz="3400" dirty="0" smtClean="0">
                <a:latin typeface="Calibri" pitchFamily="34" charset="0"/>
                <a:cs typeface="Calibri" pitchFamily="34" charset="0"/>
              </a:rPr>
              <a:t>++)</a:t>
            </a:r>
            <a:endParaRPr lang="en-US" sz="34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3400" dirty="0" smtClean="0">
                <a:latin typeface="Calibri" pitchFamily="34" charset="0"/>
                <a:cs typeface="Calibri" pitchFamily="34" charset="0"/>
              </a:rPr>
              <a:t>	</a:t>
            </a:r>
            <a:r>
              <a:rPr lang="en-US" sz="3400" dirty="0" smtClean="0">
                <a:latin typeface="Calibri" pitchFamily="34" charset="0"/>
                <a:cs typeface="Calibri" pitchFamily="34" charset="0"/>
              </a:rPr>
              <a:t>- </a:t>
            </a:r>
            <a:r>
              <a:rPr lang="vi-VN" sz="3400" dirty="0" smtClean="0">
                <a:latin typeface="Calibri" pitchFamily="34" charset="0"/>
                <a:cs typeface="Calibri" pitchFamily="34" charset="0"/>
              </a:rPr>
              <a:t>transparență </a:t>
            </a:r>
            <a:r>
              <a:rPr lang="vi-VN" sz="3400" dirty="0" smtClean="0">
                <a:latin typeface="Calibri" pitchFamily="34" charset="0"/>
                <a:cs typeface="Calibri" pitchFamily="34" charset="0"/>
              </a:rPr>
              <a:t>alfa (GIF</a:t>
            </a:r>
            <a:r>
              <a:rPr lang="vi-VN" sz="3400" dirty="0" smtClean="0">
                <a:latin typeface="Calibri" pitchFamily="34" charset="0"/>
                <a:cs typeface="Calibri" pitchFamily="34" charset="0"/>
              </a:rPr>
              <a:t>++)</a:t>
            </a:r>
            <a:endParaRPr lang="en-US" sz="34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sz="30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5100" b="1" dirty="0" smtClean="0"/>
              <a:t>PNG-24</a:t>
            </a:r>
            <a:endParaRPr lang="en-US" sz="5100" b="1" dirty="0" smtClean="0"/>
          </a:p>
          <a:p>
            <a:pPr>
              <a:buNone/>
            </a:pP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3800" dirty="0" smtClean="0"/>
              <a:t>- </a:t>
            </a:r>
            <a:r>
              <a:rPr lang="en-US" sz="3800" dirty="0" err="1" smtClean="0"/>
              <a:t>truecolor</a:t>
            </a:r>
            <a:endParaRPr lang="en-US" sz="3800" dirty="0" smtClean="0"/>
          </a:p>
          <a:p>
            <a:pPr>
              <a:buNone/>
            </a:pPr>
            <a:endParaRPr lang="en-US" sz="30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sz="2200" dirty="0" err="1" smtClean="0">
                <a:latin typeface="Calibri" pitchFamily="34" charset="0"/>
                <a:cs typeface="Calibri" pitchFamily="34" charset="0"/>
                <a:hlinkClick r:id="rId2"/>
              </a:rPr>
              <a:t>CSS</a:t>
            </a:r>
            <a:r>
              <a:rPr lang="en-US" sz="2200" dirty="0" smtClean="0">
                <a:latin typeface="Calibri" pitchFamily="34" charset="0"/>
                <a:cs typeface="Calibri" pitchFamily="34" charset="0"/>
                <a:hlinkClick r:id="rId2"/>
              </a:rPr>
              <a:t> and image optimization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 by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Stoyan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200" dirty="0" err="1" smtClean="0">
                <a:latin typeface="Calibri" pitchFamily="34" charset="0"/>
                <a:cs typeface="Calibri" pitchFamily="34" charset="0"/>
              </a:rPr>
              <a:t>Stefanov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 on May 12, 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2010</a:t>
            </a:r>
            <a:endParaRPr lang="en-US" sz="2200" dirty="0" smtClean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Multiple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instrumente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de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optimizare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PNG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>
            <a:normAutofit fontScale="85000" lnSpcReduction="10000"/>
          </a:bodyPr>
          <a:lstStyle/>
          <a:p>
            <a:pPr algn="ctr"/>
            <a:r>
              <a:rPr lang="en-US" b="1" dirty="0" err="1" smtClean="0"/>
              <a:t>PNG</a:t>
            </a:r>
            <a:r>
              <a:rPr lang="en-US" dirty="0" err="1" smtClean="0"/>
              <a:t>Slim</a:t>
            </a:r>
            <a:endParaRPr lang="en-US" dirty="0" smtClean="0"/>
          </a:p>
          <a:p>
            <a:pPr algn="ctr"/>
            <a:r>
              <a:rPr lang="en-US" dirty="0" err="1" smtClean="0"/>
              <a:t>Opti</a:t>
            </a:r>
            <a:r>
              <a:rPr lang="en-US" b="1" dirty="0" err="1" smtClean="0"/>
              <a:t>PNG</a:t>
            </a:r>
            <a:endParaRPr lang="en-US" dirty="0" smtClean="0"/>
          </a:p>
          <a:p>
            <a:pPr algn="ctr"/>
            <a:r>
              <a:rPr lang="en-US" dirty="0" err="1" smtClean="0"/>
              <a:t>DeflOpt</a:t>
            </a:r>
            <a:endParaRPr lang="en-US" dirty="0" smtClean="0"/>
          </a:p>
          <a:p>
            <a:pPr algn="ctr"/>
            <a:r>
              <a:rPr lang="en-US" b="1" dirty="0" err="1" smtClean="0"/>
              <a:t>PNG</a:t>
            </a:r>
            <a:r>
              <a:rPr lang="en-US" dirty="0" err="1" smtClean="0"/>
              <a:t>Out</a:t>
            </a:r>
            <a:endParaRPr lang="en-US" dirty="0" smtClean="0"/>
          </a:p>
          <a:p>
            <a:pPr algn="ctr"/>
            <a:r>
              <a:rPr lang="en-US" b="1" dirty="0" err="1" smtClean="0"/>
              <a:t>PNG</a:t>
            </a:r>
            <a:r>
              <a:rPr lang="en-US" dirty="0" err="1" smtClean="0"/>
              <a:t>Optimizer</a:t>
            </a:r>
            <a:endParaRPr lang="en-US" dirty="0" smtClean="0"/>
          </a:p>
          <a:p>
            <a:pPr algn="ctr"/>
            <a:r>
              <a:rPr lang="en-US" b="1" dirty="0" err="1" smtClean="0"/>
              <a:t>PNG</a:t>
            </a:r>
            <a:r>
              <a:rPr lang="en-US" dirty="0" err="1" smtClean="0"/>
              <a:t>Crush</a:t>
            </a:r>
            <a:endParaRPr lang="en-US" dirty="0" smtClean="0"/>
          </a:p>
          <a:p>
            <a:pPr algn="ctr"/>
            <a:r>
              <a:rPr lang="en-US" dirty="0" err="1" smtClean="0"/>
              <a:t>Adv</a:t>
            </a:r>
            <a:r>
              <a:rPr lang="en-US" b="1" dirty="0" err="1" smtClean="0"/>
              <a:t>PNG</a:t>
            </a:r>
            <a:endParaRPr lang="en-US" dirty="0" smtClean="0"/>
          </a:p>
          <a:p>
            <a:pPr algn="ctr"/>
            <a:r>
              <a:rPr lang="en-US" b="1" dirty="0" err="1" smtClean="0"/>
              <a:t>PNG</a:t>
            </a:r>
            <a:r>
              <a:rPr lang="en-US" dirty="0" err="1" smtClean="0"/>
              <a:t>Rewrite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sz="1400" dirty="0" err="1" smtClean="0">
                <a:latin typeface="Calibri" pitchFamily="34" charset="0"/>
                <a:cs typeface="Calibri" pitchFamily="34" charset="0"/>
                <a:hlinkClick r:id="rId2"/>
              </a:rPr>
              <a:t>CSS</a:t>
            </a:r>
            <a:r>
              <a:rPr lang="en-US" sz="1400" dirty="0" smtClean="0">
                <a:latin typeface="Calibri" pitchFamily="34" charset="0"/>
                <a:cs typeface="Calibri" pitchFamily="34" charset="0"/>
                <a:hlinkClick r:id="rId2"/>
              </a:rPr>
              <a:t> and image optimization</a:t>
            </a:r>
            <a:r>
              <a:rPr lang="en-US" sz="1400" dirty="0" smtClean="0">
                <a:latin typeface="Calibri" pitchFamily="34" charset="0"/>
                <a:cs typeface="Calibri" pitchFamily="34" charset="0"/>
              </a:rPr>
              <a:t> by </a:t>
            </a:r>
            <a:r>
              <a:rPr lang="en-US" sz="1400" dirty="0" err="1" smtClean="0">
                <a:latin typeface="Calibri" pitchFamily="34" charset="0"/>
                <a:cs typeface="Calibri" pitchFamily="34" charset="0"/>
              </a:rPr>
              <a:t>Stoyan</a:t>
            </a:r>
            <a:r>
              <a:rPr lang="en-US" sz="14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400" dirty="0" err="1" smtClean="0">
                <a:latin typeface="Calibri" pitchFamily="34" charset="0"/>
                <a:cs typeface="Calibri" pitchFamily="34" charset="0"/>
              </a:rPr>
              <a:t>Stefanov</a:t>
            </a:r>
            <a:r>
              <a:rPr lang="en-US" sz="1400" dirty="0" smtClean="0">
                <a:latin typeface="Calibri" pitchFamily="34" charset="0"/>
                <a:cs typeface="Calibri" pitchFamily="34" charset="0"/>
              </a:rPr>
              <a:t> on May 12, 2010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JPEG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formatul</a:t>
            </a:r>
            <a:r>
              <a:rPr lang="en-US" dirty="0" smtClean="0"/>
              <a:t> </a:t>
            </a: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 smtClean="0"/>
              <a:t>fotografii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err="1" smtClean="0"/>
              <a:t>optimizați</a:t>
            </a:r>
            <a:r>
              <a:rPr lang="en-US" dirty="0" smtClean="0"/>
              <a:t> </a:t>
            </a:r>
            <a:r>
              <a:rPr lang="en-US" dirty="0" err="1" smtClean="0"/>
              <a:t>imaginile</a:t>
            </a:r>
            <a:r>
              <a:rPr lang="en-US" dirty="0" smtClean="0"/>
              <a:t> </a:t>
            </a:r>
            <a:r>
              <a:rPr lang="en-US" dirty="0" err="1" smtClean="0"/>
              <a:t>folosind</a:t>
            </a:r>
            <a:r>
              <a:rPr lang="en-US" dirty="0" smtClean="0"/>
              <a:t> </a:t>
            </a:r>
            <a:r>
              <a:rPr lang="en-US" dirty="0" err="1" smtClean="0"/>
              <a:t>JPEGTran</a:t>
            </a:r>
            <a:endParaRPr 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Schema "data: URI"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 smtClean="0">
                <a:solidFill>
                  <a:srgbClr val="0070C0"/>
                </a:solidFill>
              </a:rPr>
              <a:t>$ </a:t>
            </a:r>
            <a:r>
              <a:rPr lang="en-US" dirty="0" err="1" smtClean="0">
                <a:solidFill>
                  <a:srgbClr val="0070C0"/>
                </a:solidFill>
              </a:rPr>
              <a:t>php</a:t>
            </a:r>
            <a:r>
              <a:rPr lang="en-US" dirty="0" smtClean="0">
                <a:solidFill>
                  <a:srgbClr val="0070C0"/>
                </a:solidFill>
              </a:rPr>
              <a:t> -r </a:t>
            </a:r>
            <a:r>
              <a:rPr lang="en-US" dirty="0" smtClean="0"/>
              <a:t>"</a:t>
            </a:r>
            <a:r>
              <a:rPr lang="en-US" dirty="0" smtClean="0">
                <a:solidFill>
                  <a:srgbClr val="C00000"/>
                </a:solidFill>
              </a:rPr>
              <a:t>echo base64_encode(</a:t>
            </a:r>
            <a:r>
              <a:rPr lang="en-US" dirty="0" err="1" smtClean="0">
                <a:solidFill>
                  <a:srgbClr val="C00000"/>
                </a:solidFill>
              </a:rPr>
              <a:t>file_get_contents</a:t>
            </a:r>
            <a:r>
              <a:rPr lang="en-US" dirty="0" smtClean="0">
                <a:solidFill>
                  <a:srgbClr val="C00000"/>
                </a:solidFill>
              </a:rPr>
              <a:t>(‘poza.png</a:t>
            </a:r>
            <a:r>
              <a:rPr lang="en-US" dirty="0" smtClean="0">
                <a:solidFill>
                  <a:srgbClr val="C00000"/>
                </a:solidFill>
              </a:rPr>
              <a:t>'));</a:t>
            </a:r>
            <a:r>
              <a:rPr lang="en-US" dirty="0" smtClean="0"/>
              <a:t>"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Fq8nY68PS6F2OqFB4pMHO5rvM5cra7GGTrlB2pV6Qq3SSwsDQ51R5rlB6mFWBpZ2x1XuWyI3AzFN4rFF3qKK02LbJ46u825Kpz</a:t>
            </a:r>
            <a:r>
              <a:rPr lang="en-US" dirty="0" smtClean="0"/>
              <a:t>...</a:t>
            </a:r>
          </a:p>
          <a:p>
            <a:pPr>
              <a:buNone/>
            </a:pPr>
            <a:r>
              <a:rPr lang="en-US" dirty="0" smtClean="0"/>
              <a:t>		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00B050"/>
                </a:solidFill>
              </a:rPr>
              <a:t>background-image: </a:t>
            </a:r>
            <a:r>
              <a:rPr lang="en-US" dirty="0" err="1" smtClean="0"/>
              <a:t>url</a:t>
            </a:r>
            <a:r>
              <a:rPr lang="en-US" dirty="0" smtClean="0"/>
              <a:t>("</a:t>
            </a:r>
            <a:r>
              <a:rPr lang="en-US" dirty="0" err="1" smtClean="0">
                <a:solidFill>
                  <a:srgbClr val="C00000"/>
                </a:solidFill>
              </a:rPr>
              <a:t>data:image</a:t>
            </a:r>
            <a:r>
              <a:rPr lang="en-US" dirty="0" smtClean="0">
                <a:solidFill>
                  <a:srgbClr val="C00000"/>
                </a:solidFill>
              </a:rPr>
              <a:t>/png;base64,Fq8nY68P...</a:t>
            </a:r>
            <a:r>
              <a:rPr lang="en-US" dirty="0" smtClean="0"/>
              <a:t>");</a:t>
            </a:r>
          </a:p>
          <a:p>
            <a:pPr>
              <a:buNone/>
            </a:pPr>
            <a:r>
              <a:rPr lang="en-US" dirty="0" smtClean="0"/>
              <a:t>		</a:t>
            </a:r>
            <a:endParaRPr 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Imagini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: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alte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resurse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221163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Calibri" pitchFamily="34" charset="0"/>
                <a:cs typeface="Calibri" pitchFamily="34" charset="0"/>
                <a:hlinkClick r:id="rId2"/>
              </a:rPr>
              <a:t>BOOK OF SPEED by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  <a:hlinkClick r:id="rId2"/>
              </a:rPr>
              <a:t>STOYAN</a:t>
            </a:r>
            <a:r>
              <a:rPr lang="en-US" sz="2400" dirty="0" smtClean="0">
                <a:latin typeface="Calibri" pitchFamily="34" charset="0"/>
                <a:cs typeface="Calibri" pitchFamily="34" charset="0"/>
                <a:hlinkClick r:id="rId2"/>
              </a:rPr>
              <a:t>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  <a:hlinkClick r:id="rId2"/>
              </a:rPr>
              <a:t>STEFANOV</a:t>
            </a:r>
            <a:r>
              <a:rPr lang="en-US" sz="2400" dirty="0" smtClean="0">
                <a:latin typeface="Calibri" pitchFamily="34" charset="0"/>
                <a:cs typeface="Calibri" pitchFamily="34" charset="0"/>
                <a:hlinkClick r:id="rId2"/>
              </a:rPr>
              <a:t>, Chapter 5: Optimizing </a:t>
            </a:r>
            <a:r>
              <a:rPr lang="en-US" sz="2400" dirty="0" smtClean="0">
                <a:latin typeface="Calibri" pitchFamily="34" charset="0"/>
                <a:cs typeface="Calibri" pitchFamily="34" charset="0"/>
                <a:hlinkClick r:id="rId2"/>
              </a:rPr>
              <a:t>Images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b="1" dirty="0" smtClean="0">
                <a:latin typeface="Calibri" pitchFamily="34" charset="0"/>
                <a:cs typeface="Calibri" pitchFamily="34" charset="0"/>
                <a:hlinkClick r:id="rId3"/>
              </a:rPr>
              <a:t>The Non-Designer's Design Book by Robin </a:t>
            </a:r>
            <a:r>
              <a:rPr lang="en-US" sz="2400" b="1" dirty="0" smtClean="0">
                <a:latin typeface="Calibri" pitchFamily="34" charset="0"/>
                <a:cs typeface="Calibri" pitchFamily="34" charset="0"/>
                <a:hlinkClick r:id="rId3"/>
              </a:rPr>
              <a:t>Williams</a:t>
            </a:r>
            <a:endParaRPr lang="en-US" sz="2400" b="1" dirty="0" smtClean="0">
              <a:latin typeface="Calibri" pitchFamily="34" charset="0"/>
              <a:cs typeface="Calibri" pitchFamily="34" charset="0"/>
            </a:endParaRP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 smtClean="0">
                <a:latin typeface="Calibri" pitchFamily="34" charset="0"/>
                <a:cs typeface="Calibri" pitchFamily="34" charset="0"/>
                <a:hlinkClick r:id="rId4"/>
              </a:rPr>
              <a:t>Presentation Zen: Simple Ideas on Presentation Design and Delivery</a:t>
            </a:r>
            <a:br>
              <a:rPr lang="en-US" sz="2400" dirty="0" smtClean="0">
                <a:latin typeface="Calibri" pitchFamily="34" charset="0"/>
                <a:cs typeface="Calibri" pitchFamily="34" charset="0"/>
                <a:hlinkClick r:id="rId4"/>
              </a:rPr>
            </a:br>
            <a:r>
              <a:rPr lang="en-US" sz="2400" dirty="0" smtClean="0">
                <a:latin typeface="Calibri" pitchFamily="34" charset="0"/>
                <a:cs typeface="Calibri" pitchFamily="34" charset="0"/>
                <a:hlinkClick r:id="rId4"/>
              </a:rPr>
              <a:t>by Garr Reynolds, Chapter 6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4600"/>
            <a:ext cx="8229600" cy="1935162"/>
          </a:xfrm>
        </p:spPr>
        <p:txBody>
          <a:bodyPr>
            <a:noAutofit/>
          </a:bodyPr>
          <a:lstStyle/>
          <a:p>
            <a:r>
              <a:rPr lang="en-US" sz="9600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Fonturi</a:t>
            </a:r>
            <a:endParaRPr lang="en-US" sz="9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Tipografie web: stivă de fonturi </a:t>
            </a:r>
            <a:r>
              <a:rPr lang="en-US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/>
            </a:r>
            <a:br>
              <a:rPr lang="en-US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</a:br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(</a:t>
            </a:r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font stack)</a:t>
            </a:r>
            <a:endParaRPr lang="vi-VN" dirty="0">
              <a:solidFill>
                <a:srgbClr val="0070C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0687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fr-FR" dirty="0" smtClean="0">
                <a:solidFill>
                  <a:srgbClr val="00B050"/>
                </a:solidFill>
              </a:rPr>
              <a:t>h1</a:t>
            </a:r>
            <a:r>
              <a:rPr lang="fr-FR" dirty="0" smtClean="0"/>
              <a:t> {</a:t>
            </a:r>
          </a:p>
          <a:p>
            <a:pPr>
              <a:buNone/>
            </a:pPr>
            <a:r>
              <a:rPr lang="fr-FR" dirty="0" smtClean="0"/>
              <a:t>	</a:t>
            </a:r>
            <a:r>
              <a:rPr lang="fr-FR" dirty="0" smtClean="0"/>
              <a:t>font-</a:t>
            </a:r>
            <a:r>
              <a:rPr lang="fr-FR" dirty="0" err="1" smtClean="0"/>
              <a:t>family</a:t>
            </a:r>
            <a:r>
              <a:rPr lang="fr-FR" dirty="0" smtClean="0"/>
              <a:t>: "</a:t>
            </a:r>
            <a:r>
              <a:rPr lang="fr-FR" dirty="0" smtClean="0">
                <a:solidFill>
                  <a:srgbClr val="C00000"/>
                </a:solidFill>
              </a:rPr>
              <a:t>Berk Sans</a:t>
            </a:r>
            <a:r>
              <a:rPr lang="fr-FR" dirty="0" smtClean="0"/>
              <a:t>", Arial, </a:t>
            </a:r>
            <a:r>
              <a:rPr lang="fr-FR" dirty="0" smtClean="0">
                <a:solidFill>
                  <a:srgbClr val="0070C0"/>
                </a:solidFill>
              </a:rPr>
              <a:t>sans-</a:t>
            </a:r>
            <a:r>
              <a:rPr lang="fr-FR" dirty="0" err="1" smtClean="0">
                <a:solidFill>
                  <a:srgbClr val="0070C0"/>
                </a:solidFill>
              </a:rPr>
              <a:t>serif</a:t>
            </a:r>
            <a:r>
              <a:rPr lang="fr-FR" dirty="0" smtClean="0"/>
              <a:t>;</a:t>
            </a:r>
          </a:p>
          <a:p>
            <a:pPr>
              <a:buNone/>
            </a:pPr>
            <a:r>
              <a:rPr lang="fr-FR" dirty="0" smtClean="0"/>
              <a:t>	</a:t>
            </a:r>
            <a:r>
              <a:rPr lang="fr-FR" dirty="0" smtClean="0"/>
              <a:t>}</a:t>
            </a:r>
            <a:endParaRPr lang="fr-FR" dirty="0" smtClean="0"/>
          </a:p>
          <a:p>
            <a:pPr>
              <a:buNone/>
            </a:pPr>
            <a:r>
              <a:rPr lang="fr-FR" dirty="0" smtClean="0"/>
              <a:t>		</a:t>
            </a: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 algn="ctr">
              <a:buNone/>
            </a:pPr>
            <a:r>
              <a:rPr lang="en-US" sz="1400" dirty="0" smtClean="0">
                <a:hlinkClick r:id="rId2"/>
              </a:rPr>
              <a:t>The </a:t>
            </a:r>
            <a:r>
              <a:rPr lang="en-US" sz="1400" dirty="0" smtClean="0">
                <a:hlinkClick r:id="rId2"/>
              </a:rPr>
              <a:t>Anatomy of Web Typography</a:t>
            </a:r>
            <a:r>
              <a:rPr lang="en-US" sz="1400" dirty="0" smtClean="0"/>
              <a:t>, by Ian Yates on Mar 5th 2013</a:t>
            </a:r>
            <a:endParaRPr 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Ce </a:t>
            </a:r>
            <a:r>
              <a:rPr lang="fr-FR" dirty="0" err="1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sunt</a:t>
            </a:r>
            <a:r>
              <a:rPr lang="fr-FR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fr-FR" dirty="0" err="1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stivele</a:t>
            </a:r>
            <a:r>
              <a:rPr lang="fr-FR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 de </a:t>
            </a:r>
            <a:r>
              <a:rPr lang="fr-FR" dirty="0" err="1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fonturi</a:t>
            </a:r>
            <a:r>
              <a:rPr lang="fr-FR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?</a:t>
            </a:r>
            <a:endParaRPr lang="en-US" dirty="0">
              <a:solidFill>
                <a:srgbClr val="0070C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3000" b="1" i="1" dirty="0" err="1" smtClean="0">
                <a:latin typeface="Calibri" pitchFamily="34" charset="0"/>
                <a:cs typeface="Calibri" pitchFamily="34" charset="0"/>
              </a:rPr>
              <a:t>Liste</a:t>
            </a:r>
            <a:r>
              <a:rPr lang="en-US" sz="3000" b="1" i="1" dirty="0" smtClean="0">
                <a:latin typeface="Calibri" pitchFamily="34" charset="0"/>
                <a:cs typeface="Calibri" pitchFamily="34" charset="0"/>
              </a:rPr>
              <a:t> de </a:t>
            </a:r>
            <a:r>
              <a:rPr lang="en-US" sz="3000" b="1" i="1" dirty="0" err="1" smtClean="0">
                <a:latin typeface="Calibri" pitchFamily="34" charset="0"/>
                <a:cs typeface="Calibri" pitchFamily="34" charset="0"/>
              </a:rPr>
              <a:t>fonturi</a:t>
            </a:r>
            <a:r>
              <a:rPr lang="en-US" sz="3000" b="1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000" b="1" i="1" dirty="0" err="1" smtClean="0">
                <a:latin typeface="Calibri" pitchFamily="34" charset="0"/>
                <a:cs typeface="Calibri" pitchFamily="34" charset="0"/>
              </a:rPr>
              <a:t>descendente</a:t>
            </a:r>
            <a:r>
              <a:rPr lang="en-US" sz="3000" i="1" dirty="0" smtClean="0">
                <a:latin typeface="Calibri" pitchFamily="34" charset="0"/>
                <a:cs typeface="Calibri" pitchFamily="34" charset="0"/>
              </a:rPr>
              <a:t> </a:t>
            </a:r>
            <a:r>
              <a:rPr lang="en-US" sz="3000" i="1" dirty="0" err="1" smtClean="0">
                <a:latin typeface="Calibri" pitchFamily="34" charset="0"/>
                <a:cs typeface="Calibri" pitchFamily="34" charset="0"/>
              </a:rPr>
              <a:t>bazate</a:t>
            </a:r>
            <a:r>
              <a:rPr lang="en-US" sz="3000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000" i="1" dirty="0" err="1" smtClean="0">
                <a:latin typeface="Calibri" pitchFamily="34" charset="0"/>
                <a:cs typeface="Calibri" pitchFamily="34" charset="0"/>
              </a:rPr>
              <a:t>pe</a:t>
            </a:r>
            <a:r>
              <a:rPr lang="en-US" sz="3000" i="1" dirty="0" smtClean="0">
                <a:latin typeface="Calibri" pitchFamily="34" charset="0"/>
                <a:cs typeface="Calibri" pitchFamily="34" charset="0"/>
              </a:rPr>
              <a:t>:</a:t>
            </a:r>
          </a:p>
          <a:p>
            <a:pPr>
              <a:buNone/>
            </a:pPr>
            <a:endParaRPr lang="en-US" sz="3000" i="1" dirty="0" smtClean="0">
              <a:latin typeface="Calibri" pitchFamily="34" charset="0"/>
              <a:cs typeface="Calibri" pitchFamily="34" charset="0"/>
            </a:endParaRPr>
          </a:p>
          <a:p>
            <a:pPr lvl="1">
              <a:buFontTx/>
              <a:buChar char="-"/>
            </a:pPr>
            <a:r>
              <a:rPr lang="en-US" sz="2600" dirty="0" smtClean="0">
                <a:latin typeface="Calibri" pitchFamily="34" charset="0"/>
                <a:cs typeface="Calibri" pitchFamily="34" charset="0"/>
              </a:rPr>
              <a:t>aspect ratio,</a:t>
            </a:r>
          </a:p>
          <a:p>
            <a:pPr lvl="1">
              <a:buFontTx/>
              <a:buChar char="-"/>
            </a:pPr>
            <a:r>
              <a:rPr lang="en-US" sz="2600" dirty="0" err="1" smtClean="0">
                <a:latin typeface="Calibri" pitchFamily="34" charset="0"/>
                <a:cs typeface="Calibri" pitchFamily="34" charset="0"/>
              </a:rPr>
              <a:t>platforme</a:t>
            </a:r>
            <a:r>
              <a:rPr lang="en-US" sz="2600" dirty="0" smtClean="0">
                <a:latin typeface="Calibri" pitchFamily="34" charset="0"/>
                <a:cs typeface="Calibri" pitchFamily="34" charset="0"/>
              </a:rPr>
              <a:t>,</a:t>
            </a:r>
          </a:p>
          <a:p>
            <a:pPr lvl="1">
              <a:buFontTx/>
              <a:buChar char="-"/>
            </a:pPr>
            <a:r>
              <a:rPr lang="en-US" sz="2600" dirty="0" err="1" smtClean="0">
                <a:latin typeface="Calibri" pitchFamily="34" charset="0"/>
                <a:cs typeface="Calibri" pitchFamily="34" charset="0"/>
              </a:rPr>
              <a:t>Sisteme</a:t>
            </a:r>
            <a:r>
              <a:rPr lang="en-US" sz="26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latin typeface="Calibri" pitchFamily="34" charset="0"/>
                <a:cs typeface="Calibri" pitchFamily="34" charset="0"/>
              </a:rPr>
              <a:t>de </a:t>
            </a:r>
            <a:r>
              <a:rPr lang="en-US" sz="2600" dirty="0" err="1" smtClean="0">
                <a:latin typeface="Calibri" pitchFamily="34" charset="0"/>
                <a:cs typeface="Calibri" pitchFamily="34" charset="0"/>
              </a:rPr>
              <a:t>operare</a:t>
            </a:r>
            <a:r>
              <a:rPr lang="en-US" sz="2600" dirty="0" smtClean="0">
                <a:latin typeface="Calibri" pitchFamily="34" charset="0"/>
                <a:cs typeface="Calibri" pitchFamily="34" charset="0"/>
              </a:rPr>
              <a:t>, </a:t>
            </a:r>
          </a:p>
          <a:p>
            <a:pPr lvl="1">
              <a:buFontTx/>
              <a:buChar char="-"/>
            </a:pPr>
            <a:r>
              <a:rPr lang="en-US" sz="2600" dirty="0" smtClean="0">
                <a:latin typeface="Calibri" pitchFamily="34" charset="0"/>
                <a:cs typeface="Calibri" pitchFamily="34" charset="0"/>
              </a:rPr>
              <a:t>etc.</a:t>
            </a:r>
          </a:p>
          <a:p>
            <a:pPr>
              <a:buNone/>
            </a:pP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 algn="ctr">
              <a:buNone/>
            </a:pPr>
            <a:r>
              <a:rPr lang="en-US" sz="1300" dirty="0" err="1" smtClean="0">
                <a:latin typeface="Calibri" pitchFamily="34" charset="0"/>
                <a:cs typeface="Calibri" pitchFamily="34" charset="0"/>
                <a:hlinkClick r:id="rId2" tooltip="CSS font-stacks"/>
              </a:rPr>
              <a:t>CSS</a:t>
            </a:r>
            <a:r>
              <a:rPr lang="en-US" sz="1300" dirty="0" smtClean="0">
                <a:latin typeface="Calibri" pitchFamily="34" charset="0"/>
                <a:cs typeface="Calibri" pitchFamily="34" charset="0"/>
                <a:hlinkClick r:id="rId2" tooltip="CSS font-stacks"/>
              </a:rPr>
              <a:t> </a:t>
            </a:r>
            <a:r>
              <a:rPr lang="en-US" sz="1300" dirty="0" smtClean="0">
                <a:latin typeface="Calibri" pitchFamily="34" charset="0"/>
                <a:cs typeface="Calibri" pitchFamily="34" charset="0"/>
                <a:hlinkClick r:id="rId2" tooltip="CSS font-stacks"/>
              </a:rPr>
              <a:t>font-stacks</a:t>
            </a:r>
            <a:r>
              <a:rPr lang="en-US" sz="1300" dirty="0" smtClean="0">
                <a:latin typeface="Calibri" pitchFamily="34" charset="0"/>
                <a:cs typeface="Calibri" pitchFamily="34" charset="0"/>
              </a:rPr>
              <a:t> from </a:t>
            </a:r>
            <a:r>
              <a:rPr lang="en-US" sz="1300" dirty="0" smtClean="0">
                <a:latin typeface="Calibri" pitchFamily="34" charset="0"/>
                <a:cs typeface="Calibri" pitchFamily="34" charset="0"/>
                <a:hlinkClick r:id="rId3"/>
              </a:rPr>
              <a:t>Russ Weakley</a:t>
            </a:r>
            <a:r>
              <a:rPr lang="en-US" sz="1300" dirty="0" smtClean="0">
                <a:latin typeface="Calibri" pitchFamily="34" charset="0"/>
                <a:cs typeface="Calibri" pitchFamily="34" charset="0"/>
              </a:rPr>
              <a:t> on Apr 22, 2010</a:t>
            </a:r>
            <a:endParaRPr lang="en-US" sz="13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Ce înseamnă aspect ratio</a:t>
            </a:r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?</a:t>
            </a:r>
            <a:endParaRPr lang="en-US" dirty="0">
              <a:solidFill>
                <a:srgbClr val="0070C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vi-VN" i="1" dirty="0" smtClean="0">
                <a:latin typeface="Calibri" pitchFamily="34" charset="0"/>
                <a:cs typeface="Calibri" pitchFamily="34" charset="0"/>
              </a:rPr>
              <a:t>Unele fonturi apar mai mari ca și lățime sau înălțime decât alte fonturi</a:t>
            </a:r>
            <a:r>
              <a:rPr lang="vi-VN" i="1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i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i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i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i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i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i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i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i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i="1" dirty="0" smtClean="0">
              <a:latin typeface="Calibri" pitchFamily="34" charset="0"/>
              <a:cs typeface="Calibri" pitchFamily="34" charset="0"/>
            </a:endParaRPr>
          </a:p>
          <a:p>
            <a:pPr algn="ctr">
              <a:buNone/>
            </a:pPr>
            <a:r>
              <a:rPr lang="en-US" sz="1400" dirty="0" err="1" smtClean="0">
                <a:latin typeface="Calibri" pitchFamily="34" charset="0"/>
                <a:cs typeface="Calibri" pitchFamily="34" charset="0"/>
                <a:hlinkClick r:id="rId2" tooltip="CSS font-stacks"/>
              </a:rPr>
              <a:t>CSS</a:t>
            </a:r>
            <a:r>
              <a:rPr lang="en-US" sz="1400" dirty="0" smtClean="0">
                <a:latin typeface="Calibri" pitchFamily="34" charset="0"/>
                <a:cs typeface="Calibri" pitchFamily="34" charset="0"/>
                <a:hlinkClick r:id="rId2" tooltip="CSS font-stacks"/>
              </a:rPr>
              <a:t> font-stacks</a:t>
            </a:r>
            <a:r>
              <a:rPr lang="en-US" sz="1400" dirty="0" smtClean="0">
                <a:latin typeface="Calibri" pitchFamily="34" charset="0"/>
                <a:cs typeface="Calibri" pitchFamily="34" charset="0"/>
              </a:rPr>
              <a:t> from </a:t>
            </a:r>
            <a:r>
              <a:rPr lang="en-US" sz="1400" dirty="0" smtClean="0">
                <a:latin typeface="Calibri" pitchFamily="34" charset="0"/>
                <a:cs typeface="Calibri" pitchFamily="34" charset="0"/>
                <a:hlinkClick r:id="rId3"/>
              </a:rPr>
              <a:t>Russ Weakley</a:t>
            </a:r>
            <a:r>
              <a:rPr lang="en-US" sz="1400" dirty="0" smtClean="0">
                <a:latin typeface="Calibri" pitchFamily="34" charset="0"/>
                <a:cs typeface="Calibri" pitchFamily="34" charset="0"/>
              </a:rPr>
              <a:t> on Apr 22, 2010</a:t>
            </a:r>
          </a:p>
          <a:p>
            <a:pPr>
              <a:buNone/>
            </a:pPr>
            <a:endParaRPr lang="en-US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 descr="aspectRation_sm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81200" y="3048000"/>
            <a:ext cx="5207000" cy="18796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Exemplu rău</a:t>
            </a:r>
            <a:endParaRPr lang="vi-VN" dirty="0">
              <a:solidFill>
                <a:srgbClr val="0070C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800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body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 {</a:t>
            </a:r>
          </a:p>
          <a:p>
            <a:pPr>
              <a:buNone/>
            </a:pPr>
            <a:r>
              <a:rPr lang="en-US" sz="2800" dirty="0" smtClean="0">
                <a:latin typeface="Calibri" pitchFamily="34" charset="0"/>
                <a:cs typeface="Calibri" pitchFamily="34" charset="0"/>
              </a:rPr>
              <a:t>	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font-family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: Verdana, Arial, </a:t>
            </a:r>
            <a:r>
              <a:rPr lang="en-US" sz="2800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sans-serif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;</a:t>
            </a:r>
          </a:p>
          <a:p>
            <a:pPr>
              <a:buNone/>
            </a:pPr>
            <a:r>
              <a:rPr lang="en-US" sz="2800" dirty="0" smtClean="0">
                <a:latin typeface="Calibri" pitchFamily="34" charset="0"/>
                <a:cs typeface="Calibri" pitchFamily="34" charset="0"/>
              </a:rPr>
              <a:t>	}</a:t>
            </a:r>
          </a:p>
          <a:p>
            <a:pPr>
              <a:buNone/>
            </a:pPr>
            <a:endParaRPr lang="en-US" sz="28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800" dirty="0" smtClean="0">
                <a:latin typeface="Calibri" pitchFamily="34" charset="0"/>
                <a:cs typeface="Calibri" pitchFamily="34" charset="0"/>
              </a:rPr>
              <a:t>- Verdana are aspect ratio mare, </a:t>
            </a:r>
            <a:r>
              <a:rPr lang="en-US" sz="2800" dirty="0" err="1" smtClean="0">
                <a:latin typeface="Calibri" pitchFamily="34" charset="0"/>
                <a:cs typeface="Calibri" pitchFamily="34" charset="0"/>
              </a:rPr>
              <a:t>pe</a:t>
            </a:r>
            <a:r>
              <a:rPr lang="en-US" sz="2800" dirty="0" smtClean="0">
                <a:latin typeface="Calibri" pitchFamily="34" charset="0"/>
                <a:cs typeface="Calibri" pitchFamily="34" charset="0"/>
              </a:rPr>
              <a:t> c</a:t>
            </a:r>
            <a:r>
              <a:rPr lang="ro-RO" sz="2800" dirty="0" smtClean="0">
                <a:latin typeface="Calibri" pitchFamily="34" charset="0"/>
                <a:cs typeface="Calibri" pitchFamily="34" charset="0"/>
              </a:rPr>
              <a:t>ând Arial aspect ratio mic</a:t>
            </a:r>
            <a:endParaRPr lang="en-US" sz="2800" dirty="0" smtClean="0">
              <a:latin typeface="Calibri" pitchFamily="34" charset="0"/>
              <a:cs typeface="Calibri" pitchFamily="34" charset="0"/>
            </a:endParaRPr>
          </a:p>
          <a:p>
            <a:pPr>
              <a:buFontTx/>
              <a:buChar char="-"/>
            </a:pPr>
            <a:r>
              <a:rPr lang="vi-VN" sz="2800" dirty="0" smtClean="0">
                <a:latin typeface="Calibri" pitchFamily="34" charset="0"/>
                <a:cs typeface="Calibri" pitchFamily="34" charset="0"/>
              </a:rPr>
              <a:t>Sivele </a:t>
            </a:r>
            <a:r>
              <a:rPr lang="vi-VN" sz="2800" dirty="0" smtClean="0">
                <a:latin typeface="Calibri" pitchFamily="34" charset="0"/>
                <a:cs typeface="Calibri" pitchFamily="34" charset="0"/>
              </a:rPr>
              <a:t>de fonturi ar trebuie să conțină fonturi care au aspect ratio similar</a:t>
            </a:r>
            <a:r>
              <a:rPr lang="vi-VN" sz="2800" dirty="0" smtClean="0">
                <a:latin typeface="Calibri" pitchFamily="34" charset="0"/>
                <a:cs typeface="Calibri" pitchFamily="34" charset="0"/>
              </a:rPr>
              <a:t>!</a:t>
            </a:r>
            <a:endParaRPr lang="ro-RO" sz="2800" dirty="0" smtClean="0">
              <a:latin typeface="Calibri" pitchFamily="34" charset="0"/>
              <a:cs typeface="Calibri" pitchFamily="34" charset="0"/>
            </a:endParaRPr>
          </a:p>
          <a:p>
            <a:pPr>
              <a:buFontTx/>
              <a:buChar char="-"/>
            </a:pPr>
            <a:endParaRPr lang="ro-RO" sz="2800" dirty="0" smtClean="0">
              <a:latin typeface="Calibri" pitchFamily="34" charset="0"/>
              <a:cs typeface="Calibri" pitchFamily="34" charset="0"/>
            </a:endParaRPr>
          </a:p>
          <a:p>
            <a:pPr>
              <a:buFontTx/>
              <a:buChar char="-"/>
            </a:pPr>
            <a:endParaRPr lang="ro-RO" sz="2800" dirty="0" smtClean="0">
              <a:latin typeface="Calibri" pitchFamily="34" charset="0"/>
              <a:cs typeface="Calibri" pitchFamily="34" charset="0"/>
            </a:endParaRPr>
          </a:p>
          <a:p>
            <a:pPr>
              <a:buFontTx/>
              <a:buChar char="-"/>
            </a:pPr>
            <a:endParaRPr lang="ro-RO" sz="2800" dirty="0" smtClean="0">
              <a:latin typeface="Calibri" pitchFamily="34" charset="0"/>
              <a:cs typeface="Calibri" pitchFamily="34" charset="0"/>
            </a:endParaRPr>
          </a:p>
          <a:p>
            <a:pPr algn="ctr">
              <a:buNone/>
            </a:pPr>
            <a:r>
              <a:rPr lang="en-US" sz="1200" dirty="0" err="1" smtClean="0">
                <a:latin typeface="Calibri" pitchFamily="34" charset="0"/>
                <a:cs typeface="Calibri" pitchFamily="34" charset="0"/>
                <a:hlinkClick r:id="rId2" tooltip="CSS font-stacks"/>
              </a:rPr>
              <a:t>CSS</a:t>
            </a:r>
            <a:r>
              <a:rPr lang="en-US" sz="1200" dirty="0" smtClean="0">
                <a:latin typeface="Calibri" pitchFamily="34" charset="0"/>
                <a:cs typeface="Calibri" pitchFamily="34" charset="0"/>
                <a:hlinkClick r:id="rId2" tooltip="CSS font-stacks"/>
              </a:rPr>
              <a:t> font-stacks</a:t>
            </a:r>
            <a:r>
              <a:rPr lang="en-US" sz="1200" dirty="0" smtClean="0">
                <a:latin typeface="Calibri" pitchFamily="34" charset="0"/>
                <a:cs typeface="Calibri" pitchFamily="34" charset="0"/>
              </a:rPr>
              <a:t> from </a:t>
            </a:r>
            <a:r>
              <a:rPr lang="en-US" sz="1200" dirty="0" smtClean="0">
                <a:latin typeface="Calibri" pitchFamily="34" charset="0"/>
                <a:cs typeface="Calibri" pitchFamily="34" charset="0"/>
                <a:hlinkClick r:id="rId3"/>
              </a:rPr>
              <a:t>Russ Weakley</a:t>
            </a:r>
            <a:r>
              <a:rPr lang="en-US" sz="1200" dirty="0" smtClean="0">
                <a:latin typeface="Calibri" pitchFamily="34" charset="0"/>
                <a:cs typeface="Calibri" pitchFamily="34" charset="0"/>
              </a:rPr>
              <a:t> on Apr 22, 2010</a:t>
            </a:r>
          </a:p>
          <a:p>
            <a:pPr>
              <a:buFontTx/>
              <a:buChar char="-"/>
            </a:pPr>
            <a:endParaRPr lang="en-US" sz="28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>
                <a:solidFill>
                  <a:srgbClr val="0070C0"/>
                </a:solidFill>
              </a:rPr>
              <a:t>Fonturi cu aspect ratio </a:t>
            </a:r>
            <a:r>
              <a:rPr lang="pt-BR" dirty="0" smtClean="0">
                <a:solidFill>
                  <a:srgbClr val="0070C0"/>
                </a:solidFill>
              </a:rPr>
              <a:t>similar</a:t>
            </a:r>
            <a:endParaRPr lang="en-US" dirty="0">
              <a:solidFill>
                <a:srgbClr val="0070C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smtClean="0"/>
                        <a:t>Larg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smtClean="0"/>
                        <a:t>Îngust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smtClean="0"/>
                        <a:t>Monospace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 smtClean="0"/>
                        <a:t>sans-serif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Verdana" pitchFamily="34" charset="0"/>
                          <a:ea typeface="Verdana" pitchFamily="34" charset="0"/>
                          <a:cs typeface="+mn-cs"/>
                        </a:rPr>
                        <a:t>Verdana</a:t>
                      </a:r>
                      <a:r>
                        <a:rPr lang="en-US" dirty="0" smtClean="0"/>
                        <a:t/>
                      </a:r>
                      <a:br>
                        <a:rPr lang="en-US" dirty="0" smtClean="0"/>
                      </a:b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Geneva" pitchFamily="34" charset="0"/>
                          <a:ea typeface="+mn-ea"/>
                          <a:cs typeface="+mn-cs"/>
                        </a:rPr>
                        <a:t>Geneva</a:t>
                      </a:r>
                      <a:endParaRPr lang="en-US" dirty="0">
                        <a:latin typeface="Geneva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Tahoma</a:t>
                      </a:r>
                      <a:r>
                        <a:rPr lang="en-US" dirty="0" smtClean="0"/>
                        <a:t/>
                      </a:r>
                      <a:br>
                        <a:rPr lang="en-US" dirty="0" smtClean="0"/>
                      </a:b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Arial</a:t>
                      </a:r>
                      <a:r>
                        <a:rPr lang="en-US" dirty="0" smtClean="0"/>
                        <a:t/>
                      </a:r>
                      <a:br>
                        <a:rPr lang="en-US" dirty="0" smtClean="0"/>
                      </a:b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Helvetica" pitchFamily="34" charset="0"/>
                          <a:ea typeface="+mn-ea"/>
                          <a:cs typeface="+mn-cs"/>
                        </a:rPr>
                        <a:t>Helvetica</a:t>
                      </a:r>
                      <a:endParaRPr lang="en-US" dirty="0">
                        <a:latin typeface="Helvetica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o-RO" dirty="0" smtClean="0"/>
                        <a:t>serif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Georgia"/>
                        </a:rPr>
                        <a:t>Georgia</a:t>
                      </a: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r>
                        <a:rPr lang="en-US" dirty="0">
                          <a:latin typeface="Utopia"/>
                        </a:rPr>
                        <a:t>Utopia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Times" pitchFamily="18" charset="0"/>
                          <a:ea typeface="+mn-ea"/>
                          <a:cs typeface="+mn-cs"/>
                        </a:rPr>
                        <a:t>Times</a:t>
                      </a:r>
                      <a:r>
                        <a:rPr lang="en-US" dirty="0" smtClean="0"/>
                        <a:t/>
                      </a:r>
                      <a:br>
                        <a:rPr lang="en-US" dirty="0" smtClean="0"/>
                      </a:b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Times New Roman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Courier</a:t>
                      </a:r>
                      <a: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  <a:t/>
                      </a:r>
                      <a:br>
                        <a:rPr lang="en-US" dirty="0" smtClean="0">
                          <a:latin typeface="Courier New" pitchFamily="49" charset="0"/>
                          <a:cs typeface="Courier New" pitchFamily="49" charset="0"/>
                        </a:rPr>
                      </a:b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Courier New</a:t>
                      </a:r>
                      <a:endParaRPr lang="en-US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5638800"/>
            <a:ext cx="8229600" cy="48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  <a:hlinkClick r:id="rId2" tooltip="CSS font-stacks"/>
              </a:rPr>
              <a:t>CSS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  <a:hlinkClick r:id="rId2" tooltip="CSS font-stacks"/>
              </a:rPr>
              <a:t> font-stacks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 from 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  <a:hlinkClick r:id="rId3"/>
              </a:rPr>
              <a:t>Russ Weakley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 on Apr 22, 2010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rgbClr val="0070C0"/>
                </a:solidFill>
              </a:rPr>
              <a:t>Pașii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pentru</a:t>
            </a:r>
            <a:r>
              <a:rPr lang="en-US" dirty="0" smtClean="0">
                <a:solidFill>
                  <a:srgbClr val="0070C0"/>
                </a:solidFill>
              </a:rPr>
              <a:t> a </a:t>
            </a:r>
            <a:r>
              <a:rPr lang="en-US" dirty="0" err="1" smtClean="0">
                <a:solidFill>
                  <a:srgbClr val="0070C0"/>
                </a:solidFill>
              </a:rPr>
              <a:t>crea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stive</a:t>
            </a:r>
            <a:r>
              <a:rPr lang="en-US" dirty="0" smtClean="0">
                <a:solidFill>
                  <a:srgbClr val="0070C0"/>
                </a:solidFill>
              </a:rPr>
              <a:t> de </a:t>
            </a:r>
            <a:r>
              <a:rPr lang="en-US" dirty="0" err="1" smtClean="0">
                <a:solidFill>
                  <a:srgbClr val="0070C0"/>
                </a:solidFill>
              </a:rPr>
              <a:t>fonturi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vi-VN" dirty="0" smtClean="0">
                <a:latin typeface="Calibri" pitchFamily="34" charset="0"/>
                <a:cs typeface="Calibri" pitchFamily="34" charset="0"/>
              </a:rPr>
              <a:t>Alegeți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fontul care 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vă 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place</a:t>
            </a:r>
            <a:endParaRPr lang="ro-RO" dirty="0" smtClean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AutoNum type="arabicPeriod"/>
            </a:pPr>
            <a:r>
              <a:rPr lang="vi-VN" dirty="0" smtClean="0">
                <a:latin typeface="Calibri" pitchFamily="34" charset="0"/>
                <a:cs typeface="Calibri" pitchFamily="34" charset="0"/>
              </a:rPr>
              <a:t>Determinați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 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categoria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 din care face parte acest font (vezi tabelul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anterior)</a:t>
            </a:r>
            <a:endParaRPr lang="ro-RO" dirty="0" smtClean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AutoNum type="arabicPeriod"/>
            </a:pPr>
            <a:r>
              <a:rPr lang="vi-VN" dirty="0" smtClean="0">
                <a:latin typeface="Calibri" pitchFamily="34" charset="0"/>
                <a:cs typeface="Calibri" pitchFamily="34" charset="0"/>
              </a:rPr>
              <a:t>Alegeți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o variantă pentru 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Linux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 - preferată și foarte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disponibilă</a:t>
            </a:r>
            <a:endParaRPr lang="ro-RO" dirty="0" smtClean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AutoNum type="arabicPeriod"/>
            </a:pPr>
            <a:r>
              <a:rPr lang="vi-VN" dirty="0" smtClean="0">
                <a:latin typeface="Calibri" pitchFamily="34" charset="0"/>
                <a:cs typeface="Calibri" pitchFamily="34" charset="0"/>
              </a:rPr>
              <a:t>Alegeți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o variantă pentru 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Macintosh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 - preferată și foarte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disponibilă</a:t>
            </a:r>
            <a:endParaRPr lang="ro-RO" dirty="0" smtClean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AutoNum type="arabicPeriod"/>
            </a:pPr>
            <a:r>
              <a:rPr lang="vi-VN" dirty="0" smtClean="0">
                <a:latin typeface="Calibri" pitchFamily="34" charset="0"/>
                <a:cs typeface="Calibri" pitchFamily="34" charset="0"/>
              </a:rPr>
              <a:t>Alegeți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o variantă pentru 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Windows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 - preferată și foarte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disponibilă</a:t>
            </a:r>
            <a:endParaRPr lang="ro-RO" dirty="0" smtClean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AutoNum type="arabicPeriod"/>
            </a:pPr>
            <a:r>
              <a:rPr lang="vi-VN" dirty="0" smtClean="0">
                <a:latin typeface="Calibri" pitchFamily="34" charset="0"/>
                <a:cs typeface="Calibri" pitchFamily="34" charset="0"/>
              </a:rPr>
              <a:t>Adăugați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familia de fonturi 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generice</a:t>
            </a:r>
            <a:endParaRPr lang="ro-RO" b="1" dirty="0" smtClean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AutoNum type="arabicPeriod"/>
            </a:pPr>
            <a:endParaRPr lang="ro-RO" b="1" dirty="0" smtClean="0">
              <a:latin typeface="Calibri" pitchFamily="34" charset="0"/>
              <a:cs typeface="Calibri" pitchFamily="34" charset="0"/>
            </a:endParaRPr>
          </a:p>
          <a:p>
            <a:pPr marL="514350" indent="-514350" algn="ctr">
              <a:buNone/>
            </a:pPr>
            <a:r>
              <a:rPr lang="en-US" sz="1500" dirty="0" err="1" smtClean="0">
                <a:latin typeface="Calibri" pitchFamily="34" charset="0"/>
                <a:cs typeface="Calibri" pitchFamily="34" charset="0"/>
                <a:hlinkClick r:id="rId2" tooltip="CSS font-stacks"/>
              </a:rPr>
              <a:t>CSS</a:t>
            </a:r>
            <a:r>
              <a:rPr lang="en-US" sz="1500" dirty="0" smtClean="0">
                <a:latin typeface="Calibri" pitchFamily="34" charset="0"/>
                <a:cs typeface="Calibri" pitchFamily="34" charset="0"/>
                <a:hlinkClick r:id="rId2" tooltip="CSS font-stacks"/>
              </a:rPr>
              <a:t> font-stacks</a:t>
            </a:r>
            <a:r>
              <a:rPr lang="en-US" sz="1500" dirty="0" smtClean="0">
                <a:latin typeface="Calibri" pitchFamily="34" charset="0"/>
                <a:cs typeface="Calibri" pitchFamily="34" charset="0"/>
              </a:rPr>
              <a:t> from </a:t>
            </a:r>
            <a:r>
              <a:rPr lang="en-US" sz="1500" dirty="0" smtClean="0">
                <a:latin typeface="Calibri" pitchFamily="34" charset="0"/>
                <a:cs typeface="Calibri" pitchFamily="34" charset="0"/>
                <a:hlinkClick r:id="rId3"/>
              </a:rPr>
              <a:t>Russ Weakley</a:t>
            </a:r>
            <a:r>
              <a:rPr lang="en-US" sz="1500" dirty="0" smtClean="0">
                <a:latin typeface="Calibri" pitchFamily="34" charset="0"/>
                <a:cs typeface="Calibri" pitchFamily="34" charset="0"/>
              </a:rPr>
              <a:t> on Apr 22, 2010</a:t>
            </a:r>
          </a:p>
          <a:p>
            <a:pPr marL="514350" indent="-514350">
              <a:buNone/>
            </a:pPr>
            <a:endParaRPr lang="ro-RO" b="1" dirty="0" smtClean="0">
              <a:latin typeface="Calibri" pitchFamily="34" charset="0"/>
              <a:cs typeface="Calibri" pitchFamily="34" charset="0"/>
            </a:endParaRPr>
          </a:p>
          <a:p>
            <a:pPr marL="514350" indent="-514350">
              <a:buNone/>
            </a:pPr>
            <a:endParaRPr lang="vi-VN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Ordinea într-o stivă de </a:t>
            </a:r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fonturi</a:t>
            </a:r>
            <a:endParaRPr lang="en-US" dirty="0">
              <a:solidFill>
                <a:srgbClr val="0070C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600200"/>
            <a:ext cx="4800600" cy="452596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vi-VN" b="1" dirty="0" smtClean="0">
                <a:latin typeface="Calibri" pitchFamily="34" charset="0"/>
                <a:cs typeface="Calibri" pitchFamily="34" charset="0"/>
              </a:rPr>
              <a:t>Fonturi Web (care se pot descărca de pe Internet)</a:t>
            </a:r>
          </a:p>
          <a:p>
            <a:pPr>
              <a:buNone/>
            </a:pPr>
            <a:endParaRPr lang="ro-RO" b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vi-VN" b="1" dirty="0" smtClean="0">
                <a:latin typeface="Calibri" pitchFamily="34" charset="0"/>
                <a:cs typeface="Calibri" pitchFamily="34" charset="0"/>
              </a:rPr>
              <a:t>Fonturi 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Web-safe</a:t>
            </a:r>
          </a:p>
          <a:p>
            <a:pPr>
              <a:buNone/>
            </a:pPr>
            <a:endParaRPr lang="ro-RO" b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vi-VN" b="1" dirty="0" smtClean="0">
                <a:latin typeface="Calibri" pitchFamily="34" charset="0"/>
                <a:cs typeface="Calibri" pitchFamily="34" charset="0"/>
              </a:rPr>
              <a:t>Fonturi 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Web Core</a:t>
            </a:r>
          </a:p>
          <a:p>
            <a:pPr>
              <a:buNone/>
            </a:pPr>
            <a:endParaRPr lang="ro-RO" b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vi-VN" b="1" dirty="0" smtClean="0">
                <a:latin typeface="Calibri" pitchFamily="34" charset="0"/>
                <a:cs typeface="Calibri" pitchFamily="34" charset="0"/>
              </a:rPr>
              <a:t>Familii 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de fonturi generice</a:t>
            </a:r>
            <a:endParaRPr lang="vi-VN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105400" cy="1143000"/>
          </a:xfrm>
        </p:spPr>
        <p:txBody>
          <a:bodyPr>
            <a:normAutofit/>
          </a:bodyPr>
          <a:lstStyle/>
          <a:p>
            <a:r>
              <a:rPr lang="en-US" dirty="0" err="1" smtClean="0">
                <a:solidFill>
                  <a:srgbClr val="0070C0"/>
                </a:solidFill>
              </a:rPr>
              <a:t>Fonturi</a:t>
            </a:r>
            <a:r>
              <a:rPr lang="en-US" dirty="0" smtClean="0">
                <a:solidFill>
                  <a:srgbClr val="0070C0"/>
                </a:solidFill>
              </a:rPr>
              <a:t> Web </a:t>
            </a:r>
            <a:r>
              <a:rPr lang="en-US" dirty="0" smtClean="0">
                <a:solidFill>
                  <a:srgbClr val="0070C0"/>
                </a:solidFill>
              </a:rPr>
              <a:t>Core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18237"/>
            <a:ext cx="8229600" cy="33496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1200" dirty="0" smtClean="0">
                <a:latin typeface="Calibri" pitchFamily="34" charset="0"/>
                <a:cs typeface="Calibri" pitchFamily="34" charset="0"/>
                <a:hlinkClick r:id="rId2"/>
              </a:rPr>
              <a:t>The </a:t>
            </a:r>
            <a:r>
              <a:rPr lang="en-US" sz="1200" dirty="0" smtClean="0">
                <a:latin typeface="Calibri" pitchFamily="34" charset="0"/>
                <a:cs typeface="Calibri" pitchFamily="34" charset="0"/>
                <a:hlinkClick r:id="rId2"/>
              </a:rPr>
              <a:t>NEW Web Typography: Where the Sexy Is</a:t>
            </a:r>
            <a:r>
              <a:rPr lang="en-US" sz="1200" dirty="0" smtClean="0">
                <a:latin typeface="Calibri" pitchFamily="34" charset="0"/>
                <a:cs typeface="Calibri" pitchFamily="34" charset="0"/>
              </a:rPr>
              <a:t>, by Jason </a:t>
            </a:r>
            <a:r>
              <a:rPr lang="en-US" sz="1200" dirty="0" err="1" smtClean="0">
                <a:latin typeface="Calibri" pitchFamily="34" charset="0"/>
                <a:cs typeface="Calibri" pitchFamily="34" charset="0"/>
              </a:rPr>
              <a:t>CranfordTeague</a:t>
            </a:r>
            <a:r>
              <a:rPr lang="en-US" sz="1200" dirty="0" smtClean="0">
                <a:latin typeface="Calibri" pitchFamily="34" charset="0"/>
                <a:cs typeface="Calibri" pitchFamily="34" charset="0"/>
              </a:rPr>
              <a:t> Oct 25, 2011</a:t>
            </a:r>
            <a:endParaRPr lang="en-US" sz="12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 descr="1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15000" y="381000"/>
            <a:ext cx="2693838" cy="55626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rgbClr val="0070C0"/>
                </a:solidFill>
              </a:rPr>
              <a:t>Fonturi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smtClean="0">
                <a:solidFill>
                  <a:srgbClr val="0070C0"/>
                </a:solidFill>
              </a:rPr>
              <a:t>Web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24000"/>
            <a:ext cx="3352800" cy="46021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vi-VN" b="1" dirty="0" smtClean="0">
                <a:latin typeface="Calibri" pitchFamily="34" charset="0"/>
                <a:cs typeface="Calibri" pitchFamily="34" charset="0"/>
              </a:rPr>
              <a:t>2008</a:t>
            </a:r>
            <a:r>
              <a:rPr lang="ro-RO" b="1" dirty="0" smtClean="0">
                <a:latin typeface="Calibri" pitchFamily="34" charset="0"/>
                <a:cs typeface="Calibri" pitchFamily="34" charset="0"/>
              </a:rPr>
              <a:t> </a:t>
            </a:r>
          </a:p>
          <a:p>
            <a:pPr>
              <a:buNone/>
            </a:pPr>
            <a:r>
              <a:rPr lang="ro-RO" b="1" dirty="0" smtClean="0">
                <a:latin typeface="Calibri" pitchFamily="34" charset="0"/>
                <a:cs typeface="Calibri" pitchFamily="34" charset="0"/>
              </a:rPr>
              <a:t>	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Safari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suportă formatele TTF și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OTF</a:t>
            </a:r>
            <a:endParaRPr lang="ro-RO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ro-RO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ro-RO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vi-VN" b="1" dirty="0" smtClean="0">
                <a:latin typeface="Calibri" pitchFamily="34" charset="0"/>
                <a:cs typeface="Calibri" pitchFamily="34" charset="0"/>
              </a:rPr>
              <a:t>2009</a:t>
            </a:r>
            <a:r>
              <a:rPr lang="ro-RO" b="1" dirty="0" smtClean="0">
                <a:latin typeface="Calibri" pitchFamily="34" charset="0"/>
                <a:cs typeface="Calibri" pitchFamily="34" charset="0"/>
              </a:rPr>
              <a:t> </a:t>
            </a:r>
          </a:p>
          <a:p>
            <a:pPr>
              <a:buNone/>
            </a:pPr>
            <a:r>
              <a:rPr lang="ro-RO" b="1" dirty="0" smtClean="0">
                <a:latin typeface="Calibri" pitchFamily="34" charset="0"/>
                <a:cs typeface="Calibri" pitchFamily="34" charset="0"/>
              </a:rPr>
              <a:t>	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Toate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browserele suportă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webfonturi</a:t>
            </a:r>
            <a:endParaRPr lang="ro-RO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ro-RO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vi-VN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vi-VN" b="1" dirty="0" smtClean="0">
                <a:latin typeface="Calibri" pitchFamily="34" charset="0"/>
                <a:cs typeface="Calibri" pitchFamily="34" charset="0"/>
              </a:rPr>
              <a:t>2010</a:t>
            </a:r>
            <a:r>
              <a:rPr lang="ro-RO" b="1" dirty="0" smtClean="0">
                <a:latin typeface="Calibri" pitchFamily="34" charset="0"/>
                <a:cs typeface="Calibri" pitchFamily="34" charset="0"/>
              </a:rPr>
              <a:t> </a:t>
            </a:r>
          </a:p>
          <a:p>
            <a:pPr>
              <a:buNone/>
            </a:pPr>
            <a:r>
              <a:rPr lang="ro-RO" b="1" dirty="0" smtClean="0">
                <a:latin typeface="Calibri" pitchFamily="34" charset="0"/>
                <a:cs typeface="Calibri" pitchFamily="34" charset="0"/>
              </a:rPr>
              <a:t>	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Anul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tipografiei web</a:t>
            </a:r>
            <a:endParaRPr lang="vi-VN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 descr="1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76800" y="1447800"/>
            <a:ext cx="3371850" cy="4695825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6218237"/>
            <a:ext cx="8229600" cy="33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  <a:hlinkClick r:id="rId3"/>
              </a:rPr>
              <a:t>The NEW Web Typography: Where the Sexy Is</a:t>
            </a: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, by Jason CranfordTeague Oct 25, 2011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>
                <a:solidFill>
                  <a:srgbClr val="0070C0"/>
                </a:solidFill>
              </a:rPr>
              <a:t>Fonturi</a:t>
            </a:r>
            <a:r>
              <a:rPr lang="en-US" dirty="0" smtClean="0">
                <a:solidFill>
                  <a:srgbClr val="0070C0"/>
                </a:solidFill>
              </a:rPr>
              <a:t> web - </a:t>
            </a:r>
            <a:r>
              <a:rPr lang="en-US" dirty="0" err="1" smtClean="0">
                <a:solidFill>
                  <a:srgbClr val="0070C0"/>
                </a:solidFill>
              </a:rPr>
              <a:t>pentru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diferite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browsere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6218237"/>
            <a:ext cx="8229600" cy="33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  <a:hlinkClick r:id="rId2"/>
              </a:rPr>
              <a:t>The NEW Web Typography: Where the Sexy Is</a:t>
            </a: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, by Jason CranfordTeague Oct 25, 2011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pic>
        <p:nvPicPr>
          <p:cNvPr id="7" name="Picture 6" descr="13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587958"/>
            <a:ext cx="9144000" cy="3682084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>
                <a:solidFill>
                  <a:srgbClr val="0070C0"/>
                </a:solidFill>
              </a:rPr>
              <a:t>Fonturi</a:t>
            </a:r>
            <a:r>
              <a:rPr lang="en-US" dirty="0" smtClean="0">
                <a:solidFill>
                  <a:srgbClr val="0070C0"/>
                </a:solidFill>
              </a:rPr>
              <a:t> web - </a:t>
            </a:r>
            <a:r>
              <a:rPr lang="en-US" dirty="0" err="1" smtClean="0">
                <a:solidFill>
                  <a:srgbClr val="0070C0"/>
                </a:solidFill>
              </a:rPr>
              <a:t>pentru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err="1" smtClean="0">
                <a:solidFill>
                  <a:srgbClr val="0070C0"/>
                </a:solidFill>
              </a:rPr>
              <a:t>dispozitive</a:t>
            </a:r>
            <a:r>
              <a:rPr lang="en-US" dirty="0" smtClean="0">
                <a:solidFill>
                  <a:srgbClr val="0070C0"/>
                </a:solidFill>
              </a:rPr>
              <a:t> </a:t>
            </a:r>
            <a:r>
              <a:rPr lang="en-US" dirty="0" smtClean="0">
                <a:solidFill>
                  <a:srgbClr val="0070C0"/>
                </a:solidFill>
              </a:rPr>
              <a:t>mobile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6218237"/>
            <a:ext cx="8229600" cy="33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  <a:hlinkClick r:id="rId2"/>
              </a:rPr>
              <a:t>The NEW Web Typography: Where the Sexy Is</a:t>
            </a: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, by Jason CranfordTeague Oct 25, 2011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pic>
        <p:nvPicPr>
          <p:cNvPr id="6" name="Picture 5" descr="14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587958"/>
            <a:ext cx="9144000" cy="3682084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Fontul </a:t>
            </a:r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tău</a:t>
            </a:r>
            <a:endParaRPr lang="en-US" dirty="0">
              <a:solidFill>
                <a:srgbClr val="0070C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6218237"/>
            <a:ext cx="8229600" cy="33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  <a:hlinkClick r:id="rId2"/>
              </a:rPr>
              <a:t>The NEW Web Typography: Where the Sexy Is</a:t>
            </a: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, by Jason CranfordTeague Oct 25, 2011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pic>
        <p:nvPicPr>
          <p:cNvPr id="7" name="Picture 6" descr="webFont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04900" y="1476375"/>
            <a:ext cx="6934200" cy="39052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286000" y="52578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ro-RO" b="1" dirty="0" smtClean="0">
                <a:latin typeface="Calibri" pitchFamily="34" charset="0"/>
                <a:cs typeface="Calibri" pitchFamily="34" charset="0"/>
              </a:rPr>
              <a:t>Exemplu: </a:t>
            </a:r>
          </a:p>
          <a:p>
            <a:pPr>
              <a:buNone/>
            </a:pPr>
            <a:r>
              <a:rPr lang="fr-FR" b="1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font-</a:t>
            </a:r>
            <a:r>
              <a:rPr lang="fr-FR" b="1" dirty="0" err="1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family</a:t>
            </a:r>
            <a:r>
              <a:rPr lang="fr-FR" b="1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fr-FR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'</a:t>
            </a:r>
            <a:r>
              <a:rPr lang="fr-FR" b="1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gill</a:t>
            </a:r>
            <a:r>
              <a:rPr lang="fr-FR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 sans MT</a:t>
            </a:r>
            <a:r>
              <a:rPr lang="fr-FR" b="1" dirty="0" smtClean="0">
                <a:latin typeface="Calibri" pitchFamily="34" charset="0"/>
                <a:cs typeface="Calibri" pitchFamily="34" charset="0"/>
              </a:rPr>
              <a:t>', </a:t>
            </a:r>
            <a:r>
              <a:rPr lang="fr-FR" b="1" dirty="0" err="1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arial</a:t>
            </a:r>
            <a:r>
              <a:rPr lang="fr-FR" b="1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fr-FR" b="1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sans-</a:t>
            </a:r>
            <a:r>
              <a:rPr lang="fr-FR" b="1" dirty="0" err="1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serif</a:t>
            </a:r>
            <a:r>
              <a:rPr lang="fr-FR" b="1" dirty="0" smtClean="0">
                <a:latin typeface="Calibri" pitchFamily="34" charset="0"/>
                <a:cs typeface="Calibri" pitchFamily="34" charset="0"/>
              </a:rPr>
              <a:t>;</a:t>
            </a:r>
          </a:p>
          <a:p>
            <a:pPr>
              <a:buNone/>
            </a:pPr>
            <a:r>
              <a:rPr lang="fr-FR" b="1" dirty="0" smtClean="0">
                <a:latin typeface="Calibri" pitchFamily="34" charset="0"/>
                <a:cs typeface="Calibri" pitchFamily="34" charset="0"/>
              </a:rPr>
              <a:t>		</a:t>
            </a:r>
            <a:endParaRPr lang="vi-VN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Definirea unui nou font CSS</a:t>
            </a:r>
            <a:endParaRPr lang="it-IT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24001"/>
            <a:ext cx="7772400" cy="1752599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o-RO" sz="24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@font-face </a:t>
            </a:r>
            <a:r>
              <a:rPr lang="ro-RO" sz="2400" b="1" dirty="0" smtClean="0">
                <a:latin typeface="Calibri" pitchFamily="34" charset="0"/>
                <a:cs typeface="Calibri" pitchFamily="34" charset="0"/>
              </a:rPr>
              <a:t>{</a:t>
            </a:r>
          </a:p>
          <a:p>
            <a:pPr>
              <a:buNone/>
            </a:pPr>
            <a:r>
              <a:rPr lang="ro-RO" sz="2400" b="1" dirty="0" smtClean="0">
                <a:latin typeface="Calibri" pitchFamily="34" charset="0"/>
                <a:cs typeface="Calibri" pitchFamily="34" charset="0"/>
              </a:rPr>
              <a:t>	</a:t>
            </a:r>
            <a:r>
              <a:rPr lang="ro-RO" sz="2400" b="1" dirty="0" smtClean="0">
                <a:latin typeface="Calibri" pitchFamily="34" charset="0"/>
                <a:cs typeface="Calibri" pitchFamily="34" charset="0"/>
              </a:rPr>
              <a:t>font-family</a:t>
            </a:r>
            <a:r>
              <a:rPr lang="ro-RO" sz="2400" b="1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ro-RO" sz="24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'Meine Font'</a:t>
            </a:r>
            <a:r>
              <a:rPr lang="ro-RO" sz="2400" b="1" dirty="0" smtClean="0">
                <a:latin typeface="Calibri" pitchFamily="34" charset="0"/>
                <a:cs typeface="Calibri" pitchFamily="34" charset="0"/>
              </a:rPr>
              <a:t>;</a:t>
            </a:r>
          </a:p>
          <a:p>
            <a:pPr>
              <a:buNone/>
            </a:pPr>
            <a:r>
              <a:rPr lang="ro-RO" sz="2400" b="1" dirty="0" smtClean="0">
                <a:latin typeface="Calibri" pitchFamily="34" charset="0"/>
                <a:cs typeface="Calibri" pitchFamily="34" charset="0"/>
              </a:rPr>
              <a:t>	</a:t>
            </a:r>
            <a:r>
              <a:rPr lang="ro-RO" sz="2400" b="1" dirty="0" smtClean="0">
                <a:latin typeface="Calibri" pitchFamily="34" charset="0"/>
                <a:cs typeface="Calibri" pitchFamily="34" charset="0"/>
              </a:rPr>
              <a:t>src</a:t>
            </a:r>
            <a:r>
              <a:rPr lang="ro-RO" sz="2400" b="1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ro-RO" sz="2400" b="1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url</a:t>
            </a:r>
            <a:r>
              <a:rPr lang="ro-RO" sz="2400" b="1" dirty="0" smtClean="0">
                <a:latin typeface="Calibri" pitchFamily="34" charset="0"/>
                <a:cs typeface="Calibri" pitchFamily="34" charset="0"/>
              </a:rPr>
              <a:t>(</a:t>
            </a:r>
            <a:r>
              <a:rPr lang="ro-RO" sz="2400" b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'fonts/meineFont.otf'</a:t>
            </a:r>
            <a:r>
              <a:rPr lang="ro-RO" sz="2400" b="1" dirty="0" smtClean="0">
                <a:latin typeface="Calibri" pitchFamily="34" charset="0"/>
                <a:cs typeface="Calibri" pitchFamily="34" charset="0"/>
              </a:rPr>
              <a:t>);</a:t>
            </a:r>
          </a:p>
          <a:p>
            <a:pPr>
              <a:buNone/>
            </a:pPr>
            <a:r>
              <a:rPr lang="ro-RO" sz="2400" b="1" dirty="0" smtClean="0">
                <a:latin typeface="Calibri" pitchFamily="34" charset="0"/>
                <a:cs typeface="Calibri" pitchFamily="34" charset="0"/>
              </a:rPr>
              <a:t>	</a:t>
            </a:r>
            <a:r>
              <a:rPr lang="ro-RO" sz="2400" b="1" dirty="0" smtClean="0">
                <a:latin typeface="Calibri" pitchFamily="34" charset="0"/>
                <a:cs typeface="Calibri" pitchFamily="34" charset="0"/>
              </a:rPr>
              <a:t>}</a:t>
            </a:r>
            <a:endParaRPr lang="ro-RO" sz="2400" b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ro-RO" sz="2400" b="1" dirty="0" smtClean="0">
                <a:latin typeface="Calibri" pitchFamily="34" charset="0"/>
                <a:cs typeface="Calibri" pitchFamily="34" charset="0"/>
              </a:rPr>
              <a:t>		</a:t>
            </a:r>
            <a:endParaRPr lang="vi-VN" sz="2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6218237"/>
            <a:ext cx="8229600" cy="33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  <a:hlinkClick r:id="rId2"/>
              </a:rPr>
              <a:t>The NEW Web Typography: Where the Sexy Is</a:t>
            </a: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, by Jason CranfordTeague Oct 25, 2011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Fonturi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: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alte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resurse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 err="1" smtClean="0">
                <a:latin typeface="Calibri" pitchFamily="34" charset="0"/>
                <a:cs typeface="Calibri" pitchFamily="34" charset="0"/>
                <a:hlinkClick r:id="rId2"/>
              </a:rPr>
              <a:t>Unități</a:t>
            </a:r>
            <a:r>
              <a:rPr lang="en-US" sz="2600" dirty="0" smtClean="0">
                <a:latin typeface="Calibri" pitchFamily="34" charset="0"/>
                <a:cs typeface="Calibri" pitchFamily="34" charset="0"/>
                <a:hlinkClick r:id="rId2"/>
              </a:rPr>
              <a:t> de </a:t>
            </a:r>
            <a:r>
              <a:rPr lang="en-US" sz="2600" dirty="0" err="1" smtClean="0">
                <a:latin typeface="Calibri" pitchFamily="34" charset="0"/>
                <a:cs typeface="Calibri" pitchFamily="34" charset="0"/>
                <a:hlinkClick r:id="rId2"/>
              </a:rPr>
              <a:t>măsură</a:t>
            </a:r>
            <a:r>
              <a:rPr lang="en-US" sz="2600" dirty="0" smtClean="0">
                <a:latin typeface="Calibri" pitchFamily="34" charset="0"/>
                <a:cs typeface="Calibri" pitchFamily="34" charset="0"/>
                <a:hlinkClick r:id="rId2"/>
              </a:rPr>
              <a:t>: </a:t>
            </a:r>
            <a:r>
              <a:rPr lang="en-US" sz="2600" dirty="0" err="1" smtClean="0">
                <a:latin typeface="Calibri" pitchFamily="34" charset="0"/>
                <a:cs typeface="Calibri" pitchFamily="34" charset="0"/>
                <a:hlinkClick r:id="rId2"/>
              </a:rPr>
              <a:t>px</a:t>
            </a:r>
            <a:r>
              <a:rPr lang="en-US" sz="2600" dirty="0" smtClean="0">
                <a:latin typeface="Calibri" pitchFamily="34" charset="0"/>
                <a:cs typeface="Calibri" pitchFamily="34" charset="0"/>
                <a:hlinkClick r:id="rId2"/>
              </a:rPr>
              <a:t>, pt, </a:t>
            </a:r>
            <a:r>
              <a:rPr lang="en-US" sz="2600" dirty="0" err="1" smtClean="0">
                <a:latin typeface="Calibri" pitchFamily="34" charset="0"/>
                <a:cs typeface="Calibri" pitchFamily="34" charset="0"/>
                <a:hlinkClick r:id="rId2"/>
              </a:rPr>
              <a:t>em</a:t>
            </a:r>
            <a:r>
              <a:rPr lang="en-US" sz="2600" dirty="0" smtClean="0">
                <a:latin typeface="Calibri" pitchFamily="34" charset="0"/>
                <a:cs typeface="Calibri" pitchFamily="34" charset="0"/>
                <a:hlinkClick r:id="rId2"/>
              </a:rPr>
              <a:t>, %, mm, cm, in</a:t>
            </a:r>
            <a:endParaRPr lang="en-US" sz="26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600" dirty="0" smtClean="0">
                <a:latin typeface="Calibri" pitchFamily="34" charset="0"/>
                <a:cs typeface="Calibri" pitchFamily="34" charset="0"/>
                <a:hlinkClick r:id="rId3"/>
              </a:rPr>
              <a:t>The Elements of Typographic Style Applied to the Web</a:t>
            </a:r>
            <a:endParaRPr lang="en-US" sz="26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600" dirty="0" smtClean="0">
                <a:latin typeface="Calibri" pitchFamily="34" charset="0"/>
                <a:cs typeface="Calibri" pitchFamily="34" charset="0"/>
                <a:hlinkClick r:id="rId4"/>
              </a:rPr>
              <a:t>Responsive Typography is a Physical Discipline, But Your Computer Doesn’t Know It (Yet)</a:t>
            </a:r>
            <a:endParaRPr lang="en-US" sz="26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600" dirty="0" smtClean="0">
                <a:latin typeface="Calibri" pitchFamily="34" charset="0"/>
                <a:cs typeface="Calibri" pitchFamily="34" charset="0"/>
                <a:hlinkClick r:id="rId5"/>
              </a:rPr>
              <a:t>The Era of Symbol Fonts</a:t>
            </a:r>
            <a:endParaRPr lang="en-US" sz="26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600" dirty="0" smtClean="0">
                <a:latin typeface="Calibri" pitchFamily="34" charset="0"/>
                <a:cs typeface="Calibri" pitchFamily="34" charset="0"/>
                <a:hlinkClick r:id="rId6"/>
              </a:rPr>
              <a:t>http://smyck.net/2013/01/26/web-typography/</a:t>
            </a:r>
            <a:endParaRPr lang="en-US" sz="26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600" dirty="0" smtClean="0">
                <a:latin typeface="Calibri" pitchFamily="34" charset="0"/>
                <a:cs typeface="Calibri" pitchFamily="34" charset="0"/>
                <a:hlinkClick r:id="rId7"/>
              </a:rPr>
              <a:t>Typography Guidelines And References</a:t>
            </a:r>
            <a:endParaRPr lang="en-US" sz="26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600" dirty="0" smtClean="0">
                <a:latin typeface="Calibri" pitchFamily="34" charset="0"/>
                <a:cs typeface="Calibri" pitchFamily="34" charset="0"/>
                <a:hlinkClick r:id="rId8"/>
              </a:rPr>
              <a:t>6 Ways To Improve Your Web Typography</a:t>
            </a:r>
            <a:endParaRPr lang="en-US" sz="2600" dirty="0" smtClean="0">
              <a:latin typeface="Calibri" pitchFamily="34" charset="0"/>
              <a:cs typeface="Calibri" pitchFamily="34" charset="0"/>
            </a:endParaRPr>
          </a:p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Webfonturi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: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instrumente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Calibri" pitchFamily="34" charset="0"/>
                <a:cs typeface="Calibri" pitchFamily="34" charset="0"/>
                <a:hlinkClick r:id="rId2"/>
              </a:rPr>
              <a:t>The Web Font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  <a:hlinkClick r:id="rId2"/>
              </a:rPr>
              <a:t>Combinator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 - A Web Typography Tool</a:t>
            </a:r>
          </a:p>
          <a:p>
            <a:r>
              <a:rPr lang="en-US" sz="2400" dirty="0" smtClean="0">
                <a:latin typeface="Calibri" pitchFamily="34" charset="0"/>
                <a:cs typeface="Calibri" pitchFamily="34" charset="0"/>
                <a:hlinkClick r:id="rId3"/>
              </a:rPr>
              <a:t>Interactive Guide to Blog Typography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 smtClean="0">
                <a:latin typeface="Calibri" pitchFamily="34" charset="0"/>
                <a:cs typeface="Calibri" pitchFamily="34" charset="0"/>
                <a:hlinkClick r:id="rId4"/>
              </a:rPr>
              <a:t>contrast-ratio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dirty="0" smtClean="0">
                <a:latin typeface="Calibri" pitchFamily="34" charset="0"/>
                <a:cs typeface="Calibri" pitchFamily="34" charset="0"/>
                <a:hlinkClick r:id="rId5"/>
              </a:rPr>
              <a:t>http://wave.webaim.org/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 &gt;&gt; Contrast</a:t>
            </a:r>
          </a:p>
          <a:p>
            <a:pPr>
              <a:buNone/>
            </a:pPr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CSS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Media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791200"/>
            <a:ext cx="8229600" cy="334963"/>
          </a:xfrm>
        </p:spPr>
        <p:txBody>
          <a:bodyPr>
            <a:normAutofit fontScale="25000" lnSpcReduction="20000"/>
          </a:bodyPr>
          <a:lstStyle/>
          <a:p>
            <a:endParaRPr lang="en-US" dirty="0" smtClean="0"/>
          </a:p>
          <a:p>
            <a:pPr algn="ctr">
              <a:buNone/>
            </a:pPr>
            <a:r>
              <a:rPr lang="en-US" sz="4800" dirty="0" smtClean="0">
                <a:latin typeface="Calibri" pitchFamily="34" charset="0"/>
                <a:cs typeface="Calibri" pitchFamily="34" charset="0"/>
                <a:hlinkClick r:id="rId2"/>
              </a:rPr>
              <a:t>Principles of Web Design</a:t>
            </a:r>
            <a:r>
              <a:rPr lang="en-US" sz="4800" dirty="0" smtClean="0">
                <a:latin typeface="Calibri" pitchFamily="34" charset="0"/>
                <a:cs typeface="Calibri" pitchFamily="34" charset="0"/>
              </a:rPr>
              <a:t>, 4th Edition, Joel </a:t>
            </a:r>
            <a:r>
              <a:rPr lang="en-US" sz="4800" dirty="0" err="1" smtClean="0">
                <a:latin typeface="Calibri" pitchFamily="34" charset="0"/>
                <a:cs typeface="Calibri" pitchFamily="34" charset="0"/>
              </a:rPr>
              <a:t>Sklar</a:t>
            </a:r>
            <a:r>
              <a:rPr lang="en-US" sz="4800" dirty="0" smtClean="0">
                <a:latin typeface="Calibri" pitchFamily="34" charset="0"/>
                <a:cs typeface="Calibri" pitchFamily="34" charset="0"/>
              </a:rPr>
              <a:t>, chapter 1: Understanding the Web Design Environment, 2009.</a:t>
            </a:r>
            <a:endParaRPr lang="en-US" sz="48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 descr="CSS_presentation (1)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33550" y="1157287"/>
            <a:ext cx="5676900" cy="4543425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Tipuri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de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CSS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Media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219200"/>
          <a:ext cx="82296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ro-RO" dirty="0" smtClean="0"/>
                        <a:t>Tipuri de Media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smtClean="0"/>
                        <a:t>Descriere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o-RO" sz="1600" dirty="0" smtClean="0"/>
                        <a:t>all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utilizat</a:t>
                      </a:r>
                      <a:r>
                        <a:rPr lang="en-US" sz="1600" i="1" dirty="0"/>
                        <a:t> </a:t>
                      </a:r>
                      <a:r>
                        <a:rPr lang="en-US" sz="1600" i="1" dirty="0" err="1"/>
                        <a:t>pentru</a:t>
                      </a:r>
                      <a:r>
                        <a:rPr lang="en-US" sz="1600" i="1" dirty="0"/>
                        <a:t> </a:t>
                      </a:r>
                      <a:r>
                        <a:rPr lang="en-US" sz="1600" i="1" dirty="0" err="1"/>
                        <a:t>toate</a:t>
                      </a:r>
                      <a:r>
                        <a:rPr lang="en-US" sz="1600" i="1" dirty="0"/>
                        <a:t> </a:t>
                      </a:r>
                      <a:r>
                        <a:rPr lang="en-US" sz="1600" i="1" dirty="0" err="1"/>
                        <a:t>dispozitivele</a:t>
                      </a:r>
                      <a:r>
                        <a:rPr lang="en-US" sz="1600" i="1" dirty="0"/>
                        <a:t> media</a:t>
                      </a:r>
                    </a:p>
                  </a:txBody>
                  <a:tcPr marR="9144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o-RO" sz="1600" dirty="0" smtClean="0"/>
                        <a:t>aural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utilizat</a:t>
                      </a:r>
                      <a:r>
                        <a:rPr lang="en-US" sz="1600" i="1" dirty="0"/>
                        <a:t> </a:t>
                      </a:r>
                      <a:r>
                        <a:rPr lang="en-US" sz="1600" i="1" dirty="0" err="1"/>
                        <a:t>pentru</a:t>
                      </a:r>
                      <a:r>
                        <a:rPr lang="en-US" sz="1600" i="1" dirty="0"/>
                        <a:t> </a:t>
                      </a:r>
                      <a:r>
                        <a:rPr lang="en-US" sz="1600" i="1" dirty="0" err="1"/>
                        <a:t>sintetizatoare</a:t>
                      </a:r>
                      <a:r>
                        <a:rPr lang="en-US" sz="1600" i="1" dirty="0"/>
                        <a:t> de </a:t>
                      </a:r>
                      <a:r>
                        <a:rPr lang="en-US" sz="1600" i="1" dirty="0" err="1"/>
                        <a:t>vorbire</a:t>
                      </a:r>
                      <a:r>
                        <a:rPr lang="en-US" sz="1600" i="1" dirty="0"/>
                        <a:t> </a:t>
                      </a:r>
                      <a:r>
                        <a:rPr lang="en-US" sz="1600" i="1" dirty="0" err="1"/>
                        <a:t>și</a:t>
                      </a:r>
                      <a:r>
                        <a:rPr lang="en-US" sz="1600" i="1" dirty="0"/>
                        <a:t> </a:t>
                      </a:r>
                      <a:r>
                        <a:rPr lang="en-US" sz="1600" i="1" dirty="0" err="1"/>
                        <a:t>sunet</a:t>
                      </a:r>
                      <a:endParaRPr lang="en-US" sz="1600" i="1" dirty="0"/>
                    </a:p>
                  </a:txBody>
                  <a:tcPr marR="9144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o-RO" sz="1600" dirty="0" smtClean="0"/>
                        <a:t>braille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i="1" dirty="0" err="1"/>
                        <a:t>utilizat</a:t>
                      </a:r>
                      <a:r>
                        <a:rPr lang="fr-FR" sz="1600" i="1" dirty="0"/>
                        <a:t> </a:t>
                      </a:r>
                      <a:r>
                        <a:rPr lang="fr-FR" sz="1600" i="1" dirty="0" err="1"/>
                        <a:t>pentru</a:t>
                      </a:r>
                      <a:r>
                        <a:rPr lang="fr-FR" sz="1600" i="1" dirty="0"/>
                        <a:t> </a:t>
                      </a:r>
                      <a:r>
                        <a:rPr lang="fr-FR" sz="1600" i="1" dirty="0" err="1"/>
                        <a:t>dispozitive</a:t>
                      </a:r>
                      <a:r>
                        <a:rPr lang="fr-FR" sz="1600" i="1" dirty="0"/>
                        <a:t> tactile Braille</a:t>
                      </a:r>
                    </a:p>
                  </a:txBody>
                  <a:tcPr marR="9144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o-RO" sz="1600" dirty="0" smtClean="0"/>
                        <a:t>embossed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utilizat</a:t>
                      </a:r>
                      <a:r>
                        <a:rPr lang="en-US" sz="1600" i="1" dirty="0"/>
                        <a:t> </a:t>
                      </a:r>
                      <a:r>
                        <a:rPr lang="en-US" sz="1600" i="1" dirty="0" err="1"/>
                        <a:t>pentru</a:t>
                      </a:r>
                      <a:r>
                        <a:rPr lang="en-US" sz="1600" i="1" dirty="0"/>
                        <a:t> </a:t>
                      </a:r>
                      <a:r>
                        <a:rPr lang="en-US" sz="1600" i="1" dirty="0" err="1"/>
                        <a:t>imprimantele</a:t>
                      </a:r>
                      <a:r>
                        <a:rPr lang="en-US" sz="1600" i="1" dirty="0"/>
                        <a:t> Braille</a:t>
                      </a:r>
                    </a:p>
                  </a:txBody>
                  <a:tcPr marR="9144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o-RO" sz="1600" dirty="0" smtClean="0"/>
                        <a:t>handheld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utilizat</a:t>
                      </a:r>
                      <a:r>
                        <a:rPr lang="en-US" sz="1600" i="1" dirty="0"/>
                        <a:t> </a:t>
                      </a:r>
                      <a:r>
                        <a:rPr lang="en-US" sz="1600" i="1" dirty="0" err="1"/>
                        <a:t>pentru</a:t>
                      </a:r>
                      <a:r>
                        <a:rPr lang="en-US" sz="1600" i="1" dirty="0"/>
                        <a:t> </a:t>
                      </a:r>
                      <a:r>
                        <a:rPr lang="en-US" sz="1600" i="1" dirty="0" err="1"/>
                        <a:t>telefoane</a:t>
                      </a:r>
                      <a:endParaRPr lang="en-US" sz="1600" i="1" dirty="0"/>
                    </a:p>
                  </a:txBody>
                  <a:tcPr marR="9144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o-RO" sz="1600" dirty="0" smtClean="0"/>
                        <a:t>print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utilizate</a:t>
                      </a:r>
                      <a:r>
                        <a:rPr lang="en-US" sz="1600" i="1" dirty="0"/>
                        <a:t> </a:t>
                      </a:r>
                      <a:r>
                        <a:rPr lang="en-US" sz="1600" i="1" dirty="0" err="1"/>
                        <a:t>pentru</a:t>
                      </a:r>
                      <a:r>
                        <a:rPr lang="en-US" sz="1600" i="1" dirty="0"/>
                        <a:t> </a:t>
                      </a:r>
                      <a:r>
                        <a:rPr lang="en-US" sz="1600" i="1" dirty="0" err="1"/>
                        <a:t>imprimante</a:t>
                      </a:r>
                      <a:endParaRPr lang="en-US" sz="1600" i="1" dirty="0"/>
                    </a:p>
                  </a:txBody>
                  <a:tcPr marR="9144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o-RO" sz="1600" dirty="0" smtClean="0"/>
                        <a:t>projection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vi-VN" sz="1600" i="1" dirty="0"/>
                        <a:t>utilizat pentru prezentări proiectate</a:t>
                      </a:r>
                    </a:p>
                  </a:txBody>
                  <a:tcPr marR="9144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o-RO" sz="1600" dirty="0" smtClean="0"/>
                        <a:t>screen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utilizate</a:t>
                      </a:r>
                      <a:r>
                        <a:rPr lang="en-US" sz="1600" i="1" dirty="0"/>
                        <a:t> </a:t>
                      </a:r>
                      <a:r>
                        <a:rPr lang="en-US" sz="1600" i="1" dirty="0" err="1"/>
                        <a:t>pentru</a:t>
                      </a:r>
                      <a:r>
                        <a:rPr lang="en-US" sz="1600" i="1" dirty="0"/>
                        <a:t> </a:t>
                      </a:r>
                      <a:r>
                        <a:rPr lang="en-US" sz="1600" i="1" dirty="0" err="1"/>
                        <a:t>ecrane</a:t>
                      </a:r>
                      <a:r>
                        <a:rPr lang="en-US" sz="1600" i="1" dirty="0"/>
                        <a:t> de calculator</a:t>
                      </a:r>
                    </a:p>
                  </a:txBody>
                  <a:tcPr marR="9144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o-RO" sz="1600" dirty="0" smtClean="0"/>
                        <a:t>tty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i="1" dirty="0"/>
                        <a:t>utilizat pentru terminale (care utilizează o grila de caractere fixe)</a:t>
                      </a:r>
                    </a:p>
                  </a:txBody>
                  <a:tcPr marR="914400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o-RO" sz="1600" dirty="0" smtClean="0"/>
                        <a:t>tv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 err="1"/>
                        <a:t>utilizat</a:t>
                      </a:r>
                      <a:r>
                        <a:rPr lang="en-US" sz="1600" i="1" dirty="0"/>
                        <a:t> </a:t>
                      </a:r>
                      <a:r>
                        <a:rPr lang="en-US" sz="1600" i="1" dirty="0" err="1"/>
                        <a:t>pentru</a:t>
                      </a:r>
                      <a:r>
                        <a:rPr lang="en-US" sz="1600" i="1" dirty="0"/>
                        <a:t> </a:t>
                      </a:r>
                      <a:r>
                        <a:rPr lang="en-US" sz="1600" i="1" dirty="0" err="1"/>
                        <a:t>televizoare</a:t>
                      </a:r>
                      <a:endParaRPr lang="en-US" sz="1600" i="1" dirty="0"/>
                    </a:p>
                  </a:txBody>
                  <a:tcPr marR="9144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CSS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Media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queries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i="1" dirty="0" smtClean="0">
                <a:latin typeface="Calibri" pitchFamily="34" charset="0"/>
                <a:cs typeface="Calibri" pitchFamily="34" charset="0"/>
              </a:rPr>
              <a:t>-</a:t>
            </a:r>
            <a:r>
              <a:rPr lang="en-US" i="1" dirty="0" err="1" smtClean="0">
                <a:latin typeface="Calibri" pitchFamily="34" charset="0"/>
                <a:cs typeface="Calibri" pitchFamily="34" charset="0"/>
              </a:rPr>
              <a:t>permite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i="1" dirty="0" err="1" smtClean="0">
                <a:latin typeface="Calibri" pitchFamily="34" charset="0"/>
                <a:cs typeface="Calibri" pitchFamily="34" charset="0"/>
              </a:rPr>
              <a:t>direcționarea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i="1" dirty="0" err="1" smtClean="0">
                <a:latin typeface="Calibri" pitchFamily="34" charset="0"/>
                <a:cs typeface="Calibri" pitchFamily="34" charset="0"/>
              </a:rPr>
              <a:t>regulilor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i="1" dirty="0" err="1" smtClean="0">
                <a:latin typeface="Calibri" pitchFamily="34" charset="0"/>
                <a:cs typeface="Calibri" pitchFamily="34" charset="0"/>
              </a:rPr>
              <a:t>CSS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, de </a:t>
            </a:r>
            <a:r>
              <a:rPr lang="en-US" i="1" dirty="0" err="1" smtClean="0">
                <a:latin typeface="Calibri" pitchFamily="34" charset="0"/>
                <a:cs typeface="Calibri" pitchFamily="34" charset="0"/>
              </a:rPr>
              <a:t>exemplu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i="1" dirty="0" err="1" smtClean="0">
                <a:latin typeface="Calibri" pitchFamily="34" charset="0"/>
                <a:cs typeface="Calibri" pitchFamily="34" charset="0"/>
              </a:rPr>
              <a:t>în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i="1" dirty="0" err="1" smtClean="0">
                <a:latin typeface="Calibri" pitchFamily="34" charset="0"/>
                <a:cs typeface="Calibri" pitchFamily="34" charset="0"/>
              </a:rPr>
              <a:t>funcție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 de </a:t>
            </a:r>
            <a:r>
              <a:rPr lang="en-US" i="1" dirty="0" err="1" smtClean="0">
                <a:latin typeface="Calibri" pitchFamily="34" charset="0"/>
                <a:cs typeface="Calibri" pitchFamily="34" charset="0"/>
              </a:rPr>
              <a:t>dimensiunea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i="1" dirty="0" err="1" smtClean="0">
                <a:latin typeface="Calibri" pitchFamily="34" charset="0"/>
                <a:cs typeface="Calibri" pitchFamily="34" charset="0"/>
              </a:rPr>
              <a:t>ecranului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i="1" dirty="0" err="1" smtClean="0">
                <a:latin typeface="Calibri" pitchFamily="34" charset="0"/>
                <a:cs typeface="Calibri" pitchFamily="34" charset="0"/>
              </a:rPr>
              <a:t>orientarea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i="1" dirty="0" err="1" smtClean="0">
                <a:latin typeface="Calibri" pitchFamily="34" charset="0"/>
                <a:cs typeface="Calibri" pitchFamily="34" charset="0"/>
              </a:rPr>
              <a:t>dispozitivului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i="1" dirty="0" err="1" smtClean="0">
                <a:latin typeface="Calibri" pitchFamily="34" charset="0"/>
                <a:cs typeface="Calibri" pitchFamily="34" charset="0"/>
              </a:rPr>
              <a:t>sau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i="1" dirty="0" err="1" smtClean="0">
                <a:latin typeface="Calibri" pitchFamily="34" charset="0"/>
                <a:cs typeface="Calibri" pitchFamily="34" charset="0"/>
              </a:rPr>
              <a:t>densitatea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i="1" dirty="0" err="1" smtClean="0">
                <a:latin typeface="Calibri" pitchFamily="34" charset="0"/>
                <a:cs typeface="Calibri" pitchFamily="34" charset="0"/>
              </a:rPr>
              <a:t>afișajului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pPr>
              <a:buNone/>
            </a:pPr>
            <a:endParaRPr lang="en-US" i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@media screen </a:t>
            </a:r>
            <a:r>
              <a:rPr lang="vi-VN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and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 (max-width: </a:t>
            </a:r>
            <a:r>
              <a:rPr lang="vi-VN" dirty="0" smtClean="0">
                <a:solidFill>
                  <a:srgbClr val="92D050"/>
                </a:solidFill>
                <a:latin typeface="Calibri" pitchFamily="34" charset="0"/>
                <a:cs typeface="Calibri" pitchFamily="34" charset="0"/>
              </a:rPr>
              <a:t>800px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) { #</a:t>
            </a:r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site-header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 { display: </a:t>
            </a:r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none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; } }</a:t>
            </a:r>
          </a:p>
          <a:p>
            <a:pPr>
              <a:buNone/>
            </a:pPr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@</a:t>
            </a:r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media screen </a:t>
            </a:r>
            <a:r>
              <a:rPr lang="vi-VN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and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 (</a:t>
            </a:r>
            <a:r>
              <a:rPr lang="vi-VN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display-mode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vi-VN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fullscreen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) { </a:t>
            </a:r>
            <a:r>
              <a:rPr lang="vi-VN" dirty="0" smtClean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/* se aplică numai ecranelor în modul ecran complet */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}</a:t>
            </a:r>
          </a:p>
          <a:p>
            <a:pPr>
              <a:buNone/>
            </a:pPr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@</a:t>
            </a:r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media all </a:t>
            </a:r>
            <a:r>
              <a:rPr lang="vi-VN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and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 (orientation: </a:t>
            </a:r>
            <a:r>
              <a:rPr lang="vi-VN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landscape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) { </a:t>
            </a:r>
            <a:r>
              <a:rPr lang="vi-VN" dirty="0" smtClean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/* se aplică doar pentru format peisaj */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 }</a:t>
            </a:r>
          </a:p>
          <a:p>
            <a:pPr>
              <a:buNone/>
            </a:pPr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@</a:t>
            </a:r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media screen </a:t>
            </a:r>
            <a:r>
              <a:rPr lang="vi-VN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and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 (min-device-width: </a:t>
            </a:r>
            <a:r>
              <a:rPr lang="vi-VN" dirty="0" smtClean="0">
                <a:solidFill>
                  <a:srgbClr val="92D050"/>
                </a:solidFill>
                <a:latin typeface="Calibri" pitchFamily="34" charset="0"/>
                <a:cs typeface="Calibri" pitchFamily="34" charset="0"/>
              </a:rPr>
              <a:t>500px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) </a:t>
            </a:r>
            <a:r>
              <a:rPr lang="vi-VN" dirty="0" smtClean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{ /* se aplică numai la o lățime de cel puțin 500 de pixeli */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}</a:t>
            </a:r>
          </a:p>
          <a:p>
            <a:pPr>
              <a:buNone/>
            </a:pPr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@</a:t>
            </a:r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media screen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print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 { </a:t>
            </a:r>
            <a:r>
              <a:rPr lang="vi-VN" dirty="0" smtClean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/* stiluri pentru dispozitive de tipărire și imprimare */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}</a:t>
            </a:r>
          </a:p>
          <a:p>
            <a:pPr>
              <a:buNone/>
            </a:pPr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@</a:t>
            </a:r>
            <a:r>
              <a:rPr lang="vi-VN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media screen </a:t>
            </a:r>
            <a:r>
              <a:rPr lang="vi-VN" dirty="0" smtClean="0">
                <a:solidFill>
                  <a:srgbClr val="7030A0"/>
                </a:solidFill>
                <a:latin typeface="Calibri" pitchFamily="34" charset="0"/>
                <a:cs typeface="Calibri" pitchFamily="34" charset="0"/>
              </a:rPr>
              <a:t>and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 (min-resolution: </a:t>
            </a:r>
            <a:r>
              <a:rPr lang="vi-VN" dirty="0" smtClean="0">
                <a:solidFill>
                  <a:srgbClr val="92D050"/>
                </a:solidFill>
                <a:latin typeface="Calibri" pitchFamily="34" charset="0"/>
                <a:cs typeface="Calibri" pitchFamily="34" charset="0"/>
              </a:rPr>
              <a:t>192dpi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), (-webkit-min-device-pixel-ratio: </a:t>
            </a:r>
            <a:r>
              <a:rPr lang="vi-VN" dirty="0" smtClean="0">
                <a:solidFill>
                  <a:srgbClr val="92D050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) { </a:t>
            </a:r>
            <a:r>
              <a:rPr lang="vi-VN" dirty="0" smtClean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cs typeface="Calibri" pitchFamily="34" charset="0"/>
              </a:rPr>
              <a:t>/* pentru Retina-Displays (cu densități mai mari ale pixelilor) */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}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algn="ctr">
              <a:buNone/>
            </a:pPr>
            <a:r>
              <a:rPr lang="en-US" sz="1900" dirty="0" smtClean="0">
                <a:latin typeface="Calibri" pitchFamily="34" charset="0"/>
                <a:cs typeface="Calibri" pitchFamily="34" charset="0"/>
                <a:hlinkClick r:id="rId2"/>
              </a:rPr>
              <a:t>Media queries</a:t>
            </a:r>
            <a:r>
              <a:rPr lang="en-US" sz="1900" dirty="0" smtClean="0">
                <a:latin typeface="Calibri" pitchFamily="34" charset="0"/>
                <a:cs typeface="Calibri" pitchFamily="34" charset="0"/>
              </a:rPr>
              <a:t> - W3C recommendation </a:t>
            </a:r>
            <a:r>
              <a:rPr lang="en-US" sz="1900" dirty="0" smtClean="0">
                <a:latin typeface="Calibri" pitchFamily="34" charset="0"/>
                <a:cs typeface="Calibri" pitchFamily="34" charset="0"/>
              </a:rPr>
              <a:t>on </a:t>
            </a:r>
            <a:r>
              <a:rPr lang="en-US" sz="1900" dirty="0" smtClean="0">
                <a:latin typeface="Calibri" pitchFamily="34" charset="0"/>
                <a:cs typeface="Calibri" pitchFamily="34" charset="0"/>
              </a:rPr>
              <a:t>CSS3; </a:t>
            </a:r>
            <a:r>
              <a:rPr lang="en-US" sz="1900" b="1" dirty="0" smtClean="0">
                <a:latin typeface="Calibri" pitchFamily="34" charset="0"/>
                <a:cs typeface="Calibri" pitchFamily="34" charset="0"/>
                <a:hlinkClick r:id="rId3"/>
              </a:rPr>
              <a:t>CSS3 Media Queries overview</a:t>
            </a:r>
            <a:r>
              <a:rPr lang="en-US" sz="1900" dirty="0" smtClean="0">
                <a:latin typeface="Calibri" pitchFamily="34" charset="0"/>
                <a:cs typeface="Calibri" pitchFamily="34" charset="0"/>
              </a:rPr>
              <a:t> by </a:t>
            </a:r>
            <a:r>
              <a:rPr lang="en-US" sz="1900" dirty="0" err="1" smtClean="0">
                <a:latin typeface="Calibri" pitchFamily="34" charset="0"/>
                <a:cs typeface="Calibri" pitchFamily="34" charset="0"/>
              </a:rPr>
              <a:t>Niels</a:t>
            </a:r>
            <a:r>
              <a:rPr lang="en-US" sz="1900" dirty="0" smtClean="0">
                <a:latin typeface="Calibri" pitchFamily="34" charset="0"/>
                <a:cs typeface="Calibri" pitchFamily="34" charset="0"/>
              </a:rPr>
              <a:t> van Hove</a:t>
            </a:r>
            <a:endParaRPr lang="en-US" sz="19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Șabloane</a:t>
            </a:r>
            <a:r>
              <a:rPr lang="en-US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 de </a:t>
            </a:r>
            <a:r>
              <a:rPr lang="en-US" dirty="0" err="1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stil</a:t>
            </a:r>
            <a:r>
              <a:rPr lang="en-US" dirty="0" smtClean="0">
                <a:solidFill>
                  <a:srgbClr val="0070C0"/>
                </a:solidFill>
                <a:latin typeface="Calibri" pitchFamily="34" charset="0"/>
                <a:cs typeface="Calibri" pitchFamily="34" charset="0"/>
              </a:rPr>
              <a:t> separate</a:t>
            </a:r>
            <a:endParaRPr lang="en-US" dirty="0">
              <a:solidFill>
                <a:srgbClr val="0070C0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&lt;</a:t>
            </a:r>
            <a:r>
              <a:rPr lang="en-US" sz="2400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link </a:t>
            </a:r>
            <a:r>
              <a:rPr lang="en-US" sz="2400" dirty="0" err="1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rel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=</a:t>
            </a:r>
            <a:r>
              <a:rPr lang="en-US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"</a:t>
            </a:r>
            <a:r>
              <a:rPr lang="en-US" sz="2400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stylesheet</a:t>
            </a:r>
            <a:r>
              <a:rPr lang="en-US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"</a:t>
            </a: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	</a:t>
            </a:r>
            <a:r>
              <a:rPr lang="en-US" sz="2400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media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=</a:t>
            </a:r>
            <a:r>
              <a:rPr lang="en-US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"screen and (min-width: 321px) and (max-width: 800px)"</a:t>
            </a: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	</a:t>
            </a:r>
            <a:r>
              <a:rPr lang="en-US" sz="2400" dirty="0" err="1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href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=</a:t>
            </a:r>
            <a:r>
              <a:rPr lang="en-US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"/</a:t>
            </a:r>
            <a:r>
              <a:rPr lang="en-US" sz="2400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css</a:t>
            </a:r>
            <a:r>
              <a:rPr lang="en-US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/style1.css"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&gt;</a:t>
            </a: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&lt;</a:t>
            </a:r>
            <a:r>
              <a:rPr lang="en-US" sz="2400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link </a:t>
            </a:r>
            <a:r>
              <a:rPr lang="en-US" sz="2400" dirty="0" err="1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rel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=</a:t>
            </a:r>
            <a:r>
              <a:rPr lang="en-US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"</a:t>
            </a:r>
            <a:r>
              <a:rPr lang="en-US" sz="2400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stylesheet</a:t>
            </a:r>
            <a:r>
              <a:rPr lang="en-US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"</a:t>
            </a: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	</a:t>
            </a:r>
            <a:r>
              <a:rPr lang="en-US" sz="2400" dirty="0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media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=</a:t>
            </a:r>
            <a:r>
              <a:rPr lang="en-US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"screen and (min-width: 801px)"</a:t>
            </a: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	</a:t>
            </a:r>
            <a:r>
              <a:rPr lang="en-US" sz="2400" dirty="0" err="1" smtClean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href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=</a:t>
            </a:r>
            <a:r>
              <a:rPr lang="en-US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"/</a:t>
            </a:r>
            <a:r>
              <a:rPr lang="en-US" sz="2400" dirty="0" err="1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css</a:t>
            </a:r>
            <a:r>
              <a:rPr lang="en-US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/style2.css"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&gt;</a:t>
            </a:r>
          </a:p>
          <a:p>
            <a:pPr>
              <a:buNone/>
            </a:pPr>
            <a:r>
              <a:rPr lang="en-US" dirty="0" smtClean="0"/>
              <a:t>			</a:t>
            </a:r>
            <a:endParaRPr 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CSS3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latin typeface="Calibri" pitchFamily="34" charset="0"/>
                <a:cs typeface="Calibri" pitchFamily="34" charset="0"/>
              </a:rPr>
              <a:t>Mai </a:t>
            </a:r>
            <a:r>
              <a:rPr lang="en-US" b="1" dirty="0" err="1" smtClean="0">
                <a:latin typeface="Calibri" pitchFamily="34" charset="0"/>
                <a:cs typeface="Calibri" pitchFamily="34" charset="0"/>
              </a:rPr>
              <a:t>eficient</a:t>
            </a:r>
            <a:endParaRPr lang="en-US" b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vi-VN" sz="2800" i="1" dirty="0" smtClean="0">
                <a:latin typeface="Calibri" pitchFamily="34" charset="0"/>
                <a:cs typeface="Calibri" pitchFamily="34" charset="0"/>
              </a:rPr>
              <a:t>- oferă o mulțime de instrumente noi cum ar fi </a:t>
            </a:r>
            <a:r>
              <a:rPr lang="vi-VN" sz="2800" b="1" i="1" dirty="0" smtClean="0">
                <a:latin typeface="Calibri" pitchFamily="34" charset="0"/>
                <a:cs typeface="Calibri" pitchFamily="34" charset="0"/>
              </a:rPr>
              <a:t>border-radius, gradients, shadows, web-fonts, animations, transforms, transitions</a:t>
            </a:r>
            <a:r>
              <a:rPr lang="vi-VN" sz="2800" i="1" dirty="0" smtClean="0">
                <a:latin typeface="Calibri" pitchFamily="34" charset="0"/>
                <a:cs typeface="Calibri" pitchFamily="34" charset="0"/>
              </a:rPr>
              <a:t> și multe altele.</a:t>
            </a:r>
            <a:endParaRPr lang="en-US" sz="28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Responsive Web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Design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vi-VN" b="1" dirty="0" smtClean="0">
                <a:latin typeface="Calibri" pitchFamily="34" charset="0"/>
                <a:cs typeface="Calibri" pitchFamily="34" charset="0"/>
              </a:rPr>
              <a:t>Trecerea de la design fix la </a:t>
            </a:r>
            <a:r>
              <a:rPr lang="vi-VN" b="1" dirty="0" smtClean="0">
                <a:latin typeface="Calibri" pitchFamily="34" charset="0"/>
                <a:cs typeface="Calibri" pitchFamily="34" charset="0"/>
              </a:rPr>
              <a:t>fluid</a:t>
            </a:r>
            <a:endParaRPr lang="en-US" b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vi-VN" b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vi-VN" sz="2800" i="1" dirty="0" smtClean="0">
                <a:latin typeface="Calibri" pitchFamily="34" charset="0"/>
                <a:cs typeface="Calibri" pitchFamily="34" charset="0"/>
              </a:rPr>
              <a:t>- este vorba despre crearea de layout-uri flexibile care se pot adapta dimensiunii ecranului și/sau a orientării fiecărui dispozitiv.</a:t>
            </a:r>
          </a:p>
          <a:p>
            <a:pPr>
              <a:buNone/>
            </a:pPr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OOCSS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(Object-oriented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CSS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vi-VN" b="1" dirty="0" smtClean="0">
                <a:latin typeface="Calibri" pitchFamily="34" charset="0"/>
                <a:cs typeface="Calibri" pitchFamily="34" charset="0"/>
              </a:rPr>
              <a:t>CSS complet abstractizat</a:t>
            </a:r>
          </a:p>
          <a:p>
            <a:pPr>
              <a:buNone/>
            </a:pPr>
            <a:endParaRPr lang="en-US" i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vi-VN" sz="2800" i="1" dirty="0" smtClean="0">
                <a:latin typeface="Calibri" pitchFamily="34" charset="0"/>
                <a:cs typeface="Calibri" pitchFamily="34" charset="0"/>
              </a:rPr>
              <a:t>- </a:t>
            </a:r>
            <a:r>
              <a:rPr lang="vi-VN" sz="2800" i="1" dirty="0" smtClean="0">
                <a:latin typeface="Calibri" pitchFamily="34" charset="0"/>
                <a:cs typeface="Calibri" pitchFamily="34" charset="0"/>
              </a:rPr>
              <a:t>permite reutilizarea codului, precum și foi de stil mai rapide și mai eficiente, care sunt mai ușor de adăugat și de gestionat.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Preprocesoare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(Preprocessors: </a:t>
            </a:r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less, sass, </a:t>
            </a:r>
            <a:r>
              <a:rPr lang="en-US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...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)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vi-VN" b="1" dirty="0" smtClean="0">
                <a:latin typeface="Calibri" pitchFamily="34" charset="0"/>
                <a:cs typeface="Calibri" pitchFamily="34" charset="0"/>
              </a:rPr>
              <a:t>Scrierea de CSS mai eficient</a:t>
            </a:r>
          </a:p>
          <a:p>
            <a:pPr>
              <a:buNone/>
            </a:pPr>
            <a:endParaRPr lang="en-US" i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vi-VN" sz="2800" i="1" dirty="0" smtClean="0">
                <a:latin typeface="Calibri" pitchFamily="34" charset="0"/>
                <a:cs typeface="Calibri" pitchFamily="34" charset="0"/>
              </a:rPr>
              <a:t>- </a:t>
            </a:r>
            <a:r>
              <a:rPr lang="vi-VN" sz="2800" i="1" dirty="0" smtClean="0">
                <a:latin typeface="Calibri" pitchFamily="34" charset="0"/>
                <a:cs typeface="Calibri" pitchFamily="34" charset="0"/>
              </a:rPr>
              <a:t>adăugarea de </a:t>
            </a:r>
            <a:r>
              <a:rPr lang="vi-VN" sz="2800" b="1" i="1" dirty="0" smtClean="0">
                <a:latin typeface="Calibri" pitchFamily="34" charset="0"/>
                <a:cs typeface="Calibri" pitchFamily="34" charset="0"/>
              </a:rPr>
              <a:t>reguli imbricate, variabile, mixin-uri</a:t>
            </a:r>
            <a:r>
              <a:rPr lang="vi-VN" sz="2800" i="1" dirty="0" smtClean="0">
                <a:latin typeface="Calibri" pitchFamily="34" charset="0"/>
                <a:cs typeface="Calibri" pitchFamily="34" charset="0"/>
              </a:rPr>
              <a:t> și </a:t>
            </a:r>
            <a:r>
              <a:rPr lang="vi-VN" sz="2800" b="1" i="1" dirty="0" smtClean="0">
                <a:latin typeface="Calibri" pitchFamily="34" charset="0"/>
                <a:cs typeface="Calibri" pitchFamily="34" charset="0"/>
              </a:rPr>
              <a:t>moștenire de selectori</a:t>
            </a:r>
            <a:r>
              <a:rPr lang="vi-VN" sz="2800" i="1" dirty="0" smtClean="0">
                <a:latin typeface="Calibri" pitchFamily="34" charset="0"/>
                <a:cs typeface="Calibri" pitchFamily="34" charset="0"/>
              </a:rPr>
              <a:t>.</a:t>
            </a:r>
            <a:endParaRPr lang="vi-VN" sz="2800" i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Framework-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uri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vi-VN" b="1" dirty="0" smtClean="0">
                <a:latin typeface="Calibri" pitchFamily="34" charset="0"/>
                <a:cs typeface="Calibri" pitchFamily="34" charset="0"/>
              </a:rPr>
              <a:t>Începutul abstractizării CSS</a:t>
            </a:r>
          </a:p>
          <a:p>
            <a:pPr>
              <a:buNone/>
            </a:pPr>
            <a:endParaRPr lang="en-US" i="1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vi-VN" sz="2800" i="1" dirty="0" smtClean="0">
                <a:latin typeface="Calibri" pitchFamily="34" charset="0"/>
                <a:cs typeface="Calibri" pitchFamily="34" charset="0"/>
              </a:rPr>
              <a:t>- </a:t>
            </a:r>
            <a:r>
              <a:rPr lang="vi-VN" sz="2800" i="1" dirty="0" smtClean="0">
                <a:latin typeface="Calibri" pitchFamily="34" charset="0"/>
                <a:cs typeface="Calibri" pitchFamily="34" charset="0"/>
              </a:rPr>
              <a:t>Instrumente, biblioteci, convenții și bune practici care combină sarcinile de rutină cu module generice care pot fi refolosite.</a:t>
            </a:r>
            <a:endParaRPr lang="vi-VN" sz="2800" i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Reguli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de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stil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CSS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vi-VN" dirty="0" smtClean="0">
                <a:latin typeface="Calibri" pitchFamily="34" charset="0"/>
                <a:cs typeface="Calibri" pitchFamily="34" charset="0"/>
                <a:hlinkClick r:id="rId2"/>
              </a:rPr>
              <a:t>Utilizați </a:t>
            </a:r>
            <a:r>
              <a:rPr lang="vi-VN" dirty="0" smtClean="0">
                <a:latin typeface="Calibri" pitchFamily="34" charset="0"/>
                <a:cs typeface="Calibri" pitchFamily="34" charset="0"/>
                <a:hlinkClick r:id="rId2"/>
              </a:rPr>
              <a:t>CSS valid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; Utilizați </a:t>
            </a:r>
            <a:r>
              <a:rPr lang="vi-VN" dirty="0" smtClean="0">
                <a:latin typeface="Calibri" pitchFamily="34" charset="0"/>
                <a:cs typeface="Calibri" pitchFamily="34" charset="0"/>
                <a:hlinkClick r:id="rId3"/>
              </a:rPr>
              <a:t>Validatorul CSS W3C</a:t>
            </a:r>
            <a:endParaRPr lang="vi-VN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dirty="0" smtClean="0">
                <a:latin typeface="Calibri" pitchFamily="34" charset="0"/>
                <a:cs typeface="Calibri" pitchFamily="34" charset="0"/>
                <a:hlinkClick r:id="rId4"/>
              </a:rPr>
              <a:t>Utilizați nume de clase sau ID semnificative sau generice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; </a:t>
            </a:r>
            <a:r>
              <a:rPr lang="vi-VN" dirty="0" smtClean="0">
                <a:latin typeface="Calibri" pitchFamily="34" charset="0"/>
                <a:cs typeface="Calibri" pitchFamily="34" charset="0"/>
                <a:hlinkClick r:id="rId4"/>
              </a:rPr>
              <a:t>nume cât mai scurte posibil, dar atât de lugi cât e necesar</a:t>
            </a:r>
            <a:endParaRPr lang="vi-VN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dirty="0" smtClean="0">
                <a:latin typeface="Calibri" pitchFamily="34" charset="0"/>
                <a:cs typeface="Calibri" pitchFamily="34" charset="0"/>
                <a:hlinkClick r:id="rId5"/>
              </a:rPr>
              <a:t>Evitați specificarea selectorilor element împreună cu ID-uri și clase.</a:t>
            </a:r>
            <a:endParaRPr lang="vi-VN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dirty="0" smtClean="0">
                <a:latin typeface="Calibri" pitchFamily="34" charset="0"/>
                <a:cs typeface="Calibri" pitchFamily="34" charset="0"/>
                <a:hlinkClick r:id="rId6"/>
              </a:rPr>
              <a:t>Utilizați proprietățile prescurtate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; </a:t>
            </a:r>
            <a:r>
              <a:rPr lang="vi-VN" dirty="0" smtClean="0">
                <a:latin typeface="Calibri" pitchFamily="34" charset="0"/>
                <a:cs typeface="Calibri" pitchFamily="34" charset="0"/>
                <a:hlinkClick r:id="rId7"/>
              </a:rPr>
              <a:t>Omiteți specificarea unității după „0“</a:t>
            </a:r>
            <a:r>
              <a:rPr lang="vi-VN" dirty="0" smtClean="0">
                <a:latin typeface="Calibri" pitchFamily="34" charset="0"/>
                <a:cs typeface="Calibri" pitchFamily="34" charset="0"/>
              </a:rPr>
              <a:t>; </a:t>
            </a:r>
            <a:r>
              <a:rPr lang="vi-VN" dirty="0" smtClean="0">
                <a:latin typeface="Calibri" pitchFamily="34" charset="0"/>
                <a:cs typeface="Calibri" pitchFamily="34" charset="0"/>
                <a:hlinkClick r:id="rId8"/>
              </a:rPr>
              <a:t>Omiteti "0" la începutul valorilor numerice</a:t>
            </a:r>
            <a:endParaRPr lang="vi-VN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dirty="0" smtClean="0">
                <a:latin typeface="Calibri" pitchFamily="34" charset="0"/>
                <a:cs typeface="Calibri" pitchFamily="34" charset="0"/>
                <a:hlinkClick r:id="rId9"/>
              </a:rPr>
              <a:t>Dacă este posibil, utilizați o notație hexazecimală din 3 cifre</a:t>
            </a:r>
            <a:endParaRPr lang="vi-VN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dirty="0" smtClean="0">
                <a:latin typeface="Calibri" pitchFamily="34" charset="0"/>
                <a:cs typeface="Calibri" pitchFamily="34" charset="0"/>
                <a:hlinkClick r:id="rId10"/>
              </a:rPr>
              <a:t>Prefix selectors with an application-specific prefix (optional)</a:t>
            </a:r>
            <a:endParaRPr lang="vi-VN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dirty="0" smtClean="0">
                <a:latin typeface="Calibri" pitchFamily="34" charset="0"/>
                <a:cs typeface="Calibri" pitchFamily="34" charset="0"/>
                <a:hlinkClick r:id="rId11"/>
              </a:rPr>
              <a:t>Separarea cuvintele în ID și numele de clase cu o cratimă (hyphen)</a:t>
            </a:r>
            <a:endParaRPr lang="vi-VN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dirty="0" smtClean="0">
                <a:latin typeface="Calibri" pitchFamily="34" charset="0"/>
                <a:cs typeface="Calibri" pitchFamily="34" charset="0"/>
                <a:hlinkClick r:id="rId12"/>
              </a:rPr>
              <a:t>Evitați detectarea </a:t>
            </a:r>
            <a:r>
              <a:rPr lang="vi-VN" i="1" dirty="0" smtClean="0">
                <a:latin typeface="Calibri" pitchFamily="34" charset="0"/>
                <a:cs typeface="Calibri" pitchFamily="34" charset="0"/>
                <a:hlinkClick r:id="rId12"/>
              </a:rPr>
              <a:t>user agent</a:t>
            </a:r>
            <a:r>
              <a:rPr lang="vi-VN" dirty="0" smtClean="0">
                <a:latin typeface="Calibri" pitchFamily="34" charset="0"/>
                <a:cs typeface="Calibri" pitchFamily="34" charset="0"/>
                <a:hlinkClick r:id="rId12"/>
              </a:rPr>
              <a:t>-ului și "hack-urile" CSS (încercați mai întâi o altă abordare</a:t>
            </a:r>
            <a:r>
              <a:rPr lang="vi-VN" dirty="0" smtClean="0">
                <a:latin typeface="Calibri" pitchFamily="34" charset="0"/>
                <a:cs typeface="Calibri" pitchFamily="34" charset="0"/>
                <a:hlinkClick r:id="rId12"/>
              </a:rPr>
              <a:t>)</a:t>
            </a: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 algn="ctr">
              <a:buNone/>
            </a:pPr>
            <a:r>
              <a:rPr lang="vi-VN" sz="1700" dirty="0" smtClean="0">
                <a:latin typeface="Calibri" pitchFamily="34" charset="0"/>
                <a:cs typeface="Calibri" pitchFamily="34" charset="0"/>
                <a:hlinkClick r:id="rId13"/>
              </a:rPr>
              <a:t>Google </a:t>
            </a:r>
            <a:r>
              <a:rPr lang="vi-VN" sz="1700" dirty="0" smtClean="0">
                <a:latin typeface="Calibri" pitchFamily="34" charset="0"/>
                <a:cs typeface="Calibri" pitchFamily="34" charset="0"/>
                <a:hlinkClick r:id="rId13"/>
              </a:rPr>
              <a:t>HTML/CSS Style Guide</a:t>
            </a:r>
            <a:endParaRPr lang="vi-VN" sz="17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Reguli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de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formatare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CSS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vi-VN" dirty="0" smtClean="0">
                <a:latin typeface="Calibri" pitchFamily="34" charset="0"/>
                <a:cs typeface="Calibri" pitchFamily="34" charset="0"/>
                <a:hlinkClick r:id="rId2"/>
              </a:rPr>
              <a:t>Ordonare alfabetică a declarațiilor</a:t>
            </a:r>
            <a:endParaRPr lang="vi-VN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dirty="0" smtClean="0">
                <a:latin typeface="Calibri" pitchFamily="34" charset="0"/>
                <a:cs typeface="Calibri" pitchFamily="34" charset="0"/>
                <a:hlinkClick r:id="rId3"/>
              </a:rPr>
              <a:t>Indentați conținutul blocurilor</a:t>
            </a:r>
            <a:endParaRPr lang="vi-VN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dirty="0" smtClean="0">
                <a:latin typeface="Calibri" pitchFamily="34" charset="0"/>
                <a:cs typeface="Calibri" pitchFamily="34" charset="0"/>
                <a:hlinkClick r:id="rId4"/>
              </a:rPr>
              <a:t>Utilizați un punct și virgulă după fiecare declarație</a:t>
            </a:r>
            <a:endParaRPr lang="vi-VN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dirty="0" smtClean="0">
                <a:latin typeface="Calibri" pitchFamily="34" charset="0"/>
                <a:cs typeface="Calibri" pitchFamily="34" charset="0"/>
                <a:hlinkClick r:id="rId5"/>
              </a:rPr>
              <a:t>Utilizați un spațiu după două puncte care urmează după numele unei proprietăți</a:t>
            </a:r>
            <a:endParaRPr lang="vi-VN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dirty="0" smtClean="0">
                <a:latin typeface="Calibri" pitchFamily="34" charset="0"/>
                <a:cs typeface="Calibri" pitchFamily="34" charset="0"/>
                <a:hlinkClick r:id="rId6"/>
              </a:rPr>
              <a:t>Utilizați un spațiu între ultimul selector și blocul de declarații</a:t>
            </a:r>
            <a:endParaRPr lang="vi-VN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dirty="0" smtClean="0">
                <a:latin typeface="Calibri" pitchFamily="34" charset="0"/>
                <a:cs typeface="Calibri" pitchFamily="34" charset="0"/>
                <a:hlinkClick r:id="rId7"/>
              </a:rPr>
              <a:t>Separați selectorii și declarațiile cu linii noi</a:t>
            </a:r>
            <a:endParaRPr lang="vi-VN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dirty="0" smtClean="0">
                <a:latin typeface="Calibri" pitchFamily="34" charset="0"/>
                <a:cs typeface="Calibri" pitchFamily="34" charset="0"/>
                <a:hlinkClick r:id="rId8"/>
              </a:rPr>
              <a:t>Separați regulile cu linii noi</a:t>
            </a:r>
            <a:endParaRPr lang="vi-VN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dirty="0" smtClean="0">
                <a:latin typeface="Calibri" pitchFamily="34" charset="0"/>
                <a:cs typeface="Calibri" pitchFamily="34" charset="0"/>
                <a:hlinkClick r:id="rId9"/>
              </a:rPr>
              <a:t>Utilizați apostroafe pentru selectorii de atribute și valorile proprietăților</a:t>
            </a:r>
            <a:endParaRPr lang="vi-VN" dirty="0" smtClean="0">
              <a:latin typeface="Calibri" pitchFamily="34" charset="0"/>
              <a:cs typeface="Calibri" pitchFamily="34" charset="0"/>
            </a:endParaRPr>
          </a:p>
          <a:p>
            <a:r>
              <a:rPr lang="vi-VN" dirty="0" smtClean="0">
                <a:latin typeface="Calibri" pitchFamily="34" charset="0"/>
                <a:cs typeface="Calibri" pitchFamily="34" charset="0"/>
                <a:hlinkClick r:id="rId10"/>
              </a:rPr>
              <a:t>Gruparea secțiunilor după comentariul secțiunii (opțional)</a:t>
            </a:r>
            <a:endParaRPr lang="vi-VN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pPr algn="ctr">
              <a:buNone/>
            </a:pPr>
            <a:r>
              <a:rPr lang="vi-VN" sz="1900" dirty="0" smtClean="0">
                <a:latin typeface="Calibri" pitchFamily="34" charset="0"/>
                <a:cs typeface="Calibri" pitchFamily="34" charset="0"/>
                <a:hlinkClick r:id="rId11"/>
              </a:rPr>
              <a:t>Google </a:t>
            </a:r>
            <a:r>
              <a:rPr lang="vi-VN" sz="1900" dirty="0" smtClean="0">
                <a:latin typeface="Calibri" pitchFamily="34" charset="0"/>
                <a:cs typeface="Calibri" pitchFamily="34" charset="0"/>
                <a:hlinkClick r:id="rId11"/>
              </a:rPr>
              <a:t>HTML/CSS Style Guide</a:t>
            </a:r>
            <a:endParaRPr lang="vi-VN" sz="1900" dirty="0" smtClean="0">
              <a:latin typeface="Calibri" pitchFamily="34" charset="0"/>
              <a:cs typeface="Calibri" pitchFamily="34" charset="0"/>
            </a:endParaRPr>
          </a:p>
          <a:p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endParaRPr lang="en-US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Sf</a:t>
            </a:r>
            <a:r>
              <a:rPr lang="ro-RO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ârşit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1063</TotalTime>
  <Words>1876</Words>
  <Application>Microsoft Office PowerPoint</Application>
  <PresentationFormat>On-screen Show (4:3)</PresentationFormat>
  <Paragraphs>671</Paragraphs>
  <Slides>89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0" baseType="lpstr">
      <vt:lpstr>Office Theme</vt:lpstr>
      <vt:lpstr>Tehnologii Web Client Side</vt:lpstr>
      <vt:lpstr>Conținut</vt:lpstr>
      <vt:lpstr>Slide 3</vt:lpstr>
      <vt:lpstr>Tagsoup</vt:lpstr>
      <vt:lpstr>Tagsoup</vt:lpstr>
      <vt:lpstr>Avantajele standardelor</vt:lpstr>
      <vt:lpstr>Cum funcționează browserele?</vt:lpstr>
      <vt:lpstr>Cum funcționează browserele? Rendering.</vt:lpstr>
      <vt:lpstr>Cum funcționează browserele? Parsing.</vt:lpstr>
      <vt:lpstr>Cascading Style Sheets (CSS). Versiuni</vt:lpstr>
      <vt:lpstr>Anatomia unei reguli CSS</vt:lpstr>
      <vt:lpstr>Utilizare CSS extern &lt;link&gt;</vt:lpstr>
      <vt:lpstr>Utilizare CSS intern &lt;style&gt;</vt:lpstr>
      <vt:lpstr>Recomandare: Utilizați CSS extern</vt:lpstr>
      <vt:lpstr>Selectori element</vt:lpstr>
      <vt:lpstr>Selectori atribut</vt:lpstr>
      <vt:lpstr>Pseudo elemente</vt:lpstr>
      <vt:lpstr>Pseudo-clase</vt:lpstr>
      <vt:lpstr>Pseudo-clase</vt:lpstr>
      <vt:lpstr>Cascadarea</vt:lpstr>
      <vt:lpstr>Cum se cascadează regulile CSS?</vt:lpstr>
      <vt:lpstr>Cum se cascadează regulile CSS? Exemple.</vt:lpstr>
      <vt:lpstr>Moștenire (Inheritance)</vt:lpstr>
      <vt:lpstr>De ce este utilă moștenirea?</vt:lpstr>
      <vt:lpstr>Painting. CSS Box model</vt:lpstr>
      <vt:lpstr>Painting. CSS display</vt:lpstr>
      <vt:lpstr>Painting. CSS Positioning</vt:lpstr>
      <vt:lpstr>Culori</vt:lpstr>
      <vt:lpstr>Culori</vt:lpstr>
      <vt:lpstr>Culori. De ce?</vt:lpstr>
      <vt:lpstr>FEAR</vt:lpstr>
      <vt:lpstr>FEAR</vt:lpstr>
      <vt:lpstr>FOREST</vt:lpstr>
      <vt:lpstr>FOREST</vt:lpstr>
      <vt:lpstr>Contrast</vt:lpstr>
      <vt:lpstr>Acesta este un exemplu RĂU!</vt:lpstr>
      <vt:lpstr>Acesta este un exemplu BUN!</vt:lpstr>
      <vt:lpstr>Semnificația culorii</vt:lpstr>
      <vt:lpstr>Semnificația culorii</vt:lpstr>
      <vt:lpstr>Sisteme de culori: RGB &amp; CMYK</vt:lpstr>
      <vt:lpstr>Sisteme de culori: RGB &amp; CMYK </vt:lpstr>
      <vt:lpstr>Culori: Jargonul</vt:lpstr>
      <vt:lpstr>Jargonul - Hue</vt:lpstr>
      <vt:lpstr>Jargonul - Saturation</vt:lpstr>
      <vt:lpstr>Jargonul - Brightness</vt:lpstr>
      <vt:lpstr>Roata de culori (The color wheel)</vt:lpstr>
      <vt:lpstr>Roata de culori  </vt:lpstr>
      <vt:lpstr>Culori în web design</vt:lpstr>
      <vt:lpstr>Valori RGB și CSS3: opacity și rgba</vt:lpstr>
      <vt:lpstr>Reprezentarea hexazecimală a culorilor</vt:lpstr>
      <vt:lpstr>Recomandări pentru designerii UI</vt:lpstr>
      <vt:lpstr>Culori: alte resurse</vt:lpstr>
      <vt:lpstr>Culori: alte resurse</vt:lpstr>
      <vt:lpstr>Imagini</vt:lpstr>
      <vt:lpstr>Imagini</vt:lpstr>
      <vt:lpstr>Optimizarea dimensiunilor fișierelor imagine</vt:lpstr>
      <vt:lpstr>De ce să folosiți PNG?</vt:lpstr>
      <vt:lpstr>Multiple instrumente de optimizare PNG</vt:lpstr>
      <vt:lpstr>JPEG</vt:lpstr>
      <vt:lpstr>Schema "data: URI"</vt:lpstr>
      <vt:lpstr>Imagini: alte resurse</vt:lpstr>
      <vt:lpstr>Fonturi</vt:lpstr>
      <vt:lpstr>Tipografie web: stivă de fonturi  (font stack)</vt:lpstr>
      <vt:lpstr>Ce sunt stivele de fonturi?</vt:lpstr>
      <vt:lpstr>Ce înseamnă aspect ratio?</vt:lpstr>
      <vt:lpstr>Exemplu rău</vt:lpstr>
      <vt:lpstr>Fonturi cu aspect ratio similar</vt:lpstr>
      <vt:lpstr>Pașii pentru a crea stive de fonturi</vt:lpstr>
      <vt:lpstr>Ordinea într-o stivă de fonturi</vt:lpstr>
      <vt:lpstr>Fonturi Web Core</vt:lpstr>
      <vt:lpstr>Fonturi Web</vt:lpstr>
      <vt:lpstr>Fonturi web - pentru diferite browsere</vt:lpstr>
      <vt:lpstr>Fonturi web - pentru dispozitive mobile</vt:lpstr>
      <vt:lpstr>Fontul tău</vt:lpstr>
      <vt:lpstr>Definirea unui nou font CSS</vt:lpstr>
      <vt:lpstr>Fonturi: alte resurse</vt:lpstr>
      <vt:lpstr>Webfonturi: instrumente</vt:lpstr>
      <vt:lpstr>CSS Media</vt:lpstr>
      <vt:lpstr>Tipuri de CSS Media</vt:lpstr>
      <vt:lpstr>CSS Media queries</vt:lpstr>
      <vt:lpstr>Șabloane de stil separate</vt:lpstr>
      <vt:lpstr>CSS3</vt:lpstr>
      <vt:lpstr>Responsive Web Design</vt:lpstr>
      <vt:lpstr>OOCSS (Object-oriented CSS)</vt:lpstr>
      <vt:lpstr>Preprocesoare (Preprocessors: less, sass, ...)</vt:lpstr>
      <vt:lpstr>Framework-uri</vt:lpstr>
      <vt:lpstr>Reguli de stil CSS</vt:lpstr>
      <vt:lpstr>Reguli de formatare CSS</vt:lpstr>
      <vt:lpstr>Sfârşit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Tehnologii Web Client Side</dc:title>
  <dc:creator>crist</dc:creator>
  <cp:lastModifiedBy>crist</cp:lastModifiedBy>
  <cp:revision>131</cp:revision>
  <dcterms:created xsi:type="dcterms:W3CDTF">2023-05-13T07:58:20Z</dcterms:created>
  <dcterms:modified xsi:type="dcterms:W3CDTF">2023-05-20T20:58:12Z</dcterms:modified>
</cp:coreProperties>
</file>